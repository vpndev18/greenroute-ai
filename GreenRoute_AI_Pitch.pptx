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70" r:id="rId20"/>
    <p:sldId id="269" r:id="rId19"/>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kg CO₂</c:v>
                </c:pt>
              </c:strCache>
            </c:strRef>
          </c:tx>
          <c:dPt>
            <c:idx val="0"/>
            <c:spPr>
              <a:solidFill>
                <a:srgbClr val="D93025"/>
              </a:solidFill>
            </c:spPr>
          </c:dPt>
          <c:dPt>
            <c:idx val="1"/>
            <c:spPr>
              <a:solidFill>
                <a:srgbClr val="E37400"/>
              </a:solidFill>
            </c:spPr>
          </c:dPt>
          <c:dPt>
            <c:idx val="2"/>
            <c:spPr>
              <a:solidFill>
                <a:srgbClr val="188038"/>
              </a:solidFill>
            </c:spPr>
          </c:dPt>
          <c:cat>
            <c:strRef>
              <c:f>Sheet1!$A$2:$A$4</c:f>
              <c:strCache>
                <c:ptCount val="3"/>
                <c:pt idx="0">
                  <c:v>Baseline (Pro, Mumbai)</c:v>
                </c:pt>
                <c:pt idx="1">
                  <c:v>GreenRoute, India-only</c:v>
                </c:pt>
                <c:pt idx="2">
                  <c:v>GreenRoute, global</c:v>
                </c:pt>
              </c:strCache>
            </c:strRef>
          </c:cat>
          <c:val>
            <c:numRef>
              <c:f>Sheet1!$B$2:$B$4</c:f>
              <c:numCache>
                <c:formatCode>General</c:formatCode>
                <c:ptCount val="3"/>
                <c:pt idx="0">
                  <c:v>12953</c:v>
                </c:pt>
                <c:pt idx="1">
                  <c:v>5596</c:v>
                </c:pt>
                <c:pt idx="2">
                  <c:v>397</c:v>
                </c:pt>
              </c:numCache>
            </c:numRef>
          </c:val>
        </c:ser>
        <c:dLbls>
          <c:numFmt formatCode="#,##0&quot; kg&quot;" sourceLinked="0"/>
          <c:txPr>
            <a:bodyPr/>
            <a:lstStyle/>
            <a:p>
              <a:pPr>
                <a:defRPr sz="900" b="1">
                  <a:solidFill>
                    <a:srgbClr val="202124"/>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ADCE0"/>
            </a:solidFill>
          </a:ln>
        </c:spPr>
        <c:txPr>
          <a:bodyPr/>
          <a:lstStyle/>
          <a:p>
            <a:pPr>
              <a:defRPr sz="900">
                <a:solidFill>
                  <a:srgbClr val="202124"/>
                </a:solidFill>
              </a:defRPr>
            </a:pPr>
          </a:p>
        </c:txPr>
        <c:crossAx val="-2113994440"/>
        <c:crosses val="autoZero"/>
        <c:auto val="1"/>
        <c:lblAlgn val="ctr"/>
        <c:lblOffset val="100"/>
        <c:noMultiLvlLbl val="0"/>
      </c:catAx>
      <c:valAx>
        <c:axId val="-2113994440"/>
        <c:scaling>
          <c:max val="160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hyperlink" Target="https://greenroute-ai-511911.web.ap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lang="en-GB" sz="1800" b="1">
                <a:latin typeface="Google Sans Flex"/>
                <a:ea typeface="Google Sans Flex"/>
                <a:cs typeface="Google Sans Flex"/>
                <a:sym typeface="Google Sans Flex"/>
              </a:rPr>
              <a:t>AI Alchemists</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lang="en-GB" sz="1800" b="1">
                <a:latin typeface="Google Sans Flex"/>
                <a:ea typeface="Google Sans Flex"/>
                <a:cs typeface="Google Sans Flex"/>
                <a:sym typeface="Google Sans Flex"/>
              </a:rPr>
              <a:t>Sanika Salunke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lang="en-GB" sz="1800" b="1">
                <a:latin typeface="Google Sans Flex"/>
                <a:ea typeface="Google Sans Flex"/>
                <a:cs typeface="Google Sans Flex"/>
                <a:sym typeface="Google Sans Flex"/>
              </a:rPr>
              <a:t>Sustainability &amp; Social Impact: cutting the carbon footprint of AI (LLM) inference</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65760" y="1261872"/>
            <a:ext cx="4206240" cy="228600"/>
          </a:xfrm>
          <a:prstGeom prst="rect">
            <a:avLst/>
          </a:prstGeom>
          <a:noFill/>
        </p:spPr>
        <p:txBody>
          <a:bodyPr wrap="square" lIns="0" rIns="0" tIns="0" bIns="0" anchor="t"/>
          <a:lstStyle/>
          <a:p>
            <a:pPr algn="l"/>
            <a:r>
              <a:rPr sz="900" b="1" i="0">
                <a:solidFill>
                  <a:srgbClr val="188038"/>
                </a:solidFill>
                <a:latin typeface="Arial"/>
              </a:rPr>
              <a:t>GREENROUTE AI  ·  CARBON-AWARE ROUTER FOR LLM INFERENCE</a:t>
            </a:r>
          </a:p>
        </p:txBody>
      </p:sp>
      <p:sp>
        <p:nvSpPr>
          <p:cNvPr id="73" name="TextBox 72"/>
          <p:cNvSpPr txBox="1"/>
          <p:nvPr/>
        </p:nvSpPr>
        <p:spPr>
          <a:xfrm>
            <a:off x="365760" y="1499616"/>
            <a:ext cx="4206240" cy="566928"/>
          </a:xfrm>
          <a:prstGeom prst="rect">
            <a:avLst/>
          </a:prstGeom>
          <a:noFill/>
        </p:spPr>
        <p:txBody>
          <a:bodyPr wrap="square" lIns="0" rIns="0" tIns="0" bIns="0" anchor="t"/>
          <a:lstStyle/>
          <a:p>
            <a:pPr algn="l"/>
            <a:r>
              <a:rPr sz="1800" b="1" i="0">
                <a:solidFill>
                  <a:srgbClr val="202124"/>
                </a:solidFill>
                <a:latin typeface="Arial"/>
              </a:rPr>
              <a:t>Right model. Cleanest region.</a:t>
            </a:r>
          </a:p>
          <a:p>
            <a:pPr algn="l"/>
            <a:r>
              <a:rPr sz="1800" b="1" i="0">
                <a:solidFill>
                  <a:srgbClr val="188038"/>
                </a:solidFill>
                <a:latin typeface="Arial"/>
              </a:rPr>
              <a:t>Greenest hour.</a:t>
            </a:r>
          </a:p>
        </p:txBody>
      </p:sp>
      <p:sp>
        <p:nvSpPr>
          <p:cNvPr id="74" name="TextBox 73"/>
          <p:cNvSpPr txBox="1"/>
          <p:nvPr/>
        </p:nvSpPr>
        <p:spPr>
          <a:xfrm>
            <a:off x="365760" y="2194560"/>
            <a:ext cx="4160520" cy="1828800"/>
          </a:xfrm>
          <a:prstGeom prst="rect">
            <a:avLst/>
          </a:prstGeom>
          <a:noFill/>
        </p:spPr>
        <p:txBody>
          <a:bodyPr wrap="square" lIns="0" rIns="0" tIns="0" bIns="0" anchor="t"/>
          <a:lstStyle/>
          <a:p>
            <a:pPr algn="l">
              <a:lnSpc>
                <a:spcPct val="108000"/>
              </a:lnSpc>
              <a:spcAft>
                <a:spcPts val="800"/>
              </a:spcAft>
            </a:pPr>
            <a:r>
              <a:rPr sz="1100" b="0" i="0">
                <a:solidFill>
                  <a:srgbClr val="202124"/>
                </a:solidFill>
                <a:latin typeface="Arial"/>
              </a:rPr>
              <a:t>AI inference is one of the fastest-growing loads on data centres. Yet most apps send every prompt to the largest model, in the nearest region, the moment it arrives. The same prompt can emit hundreds of times more CO₂ depending on which model runs it and where.</a:t>
            </a:r>
          </a:p>
          <a:p>
            <a:pPr algn="l">
              <a:lnSpc>
                <a:spcPct val="108000"/>
              </a:lnSpc>
            </a:pPr>
            <a:r>
              <a:rPr sz="1100" b="0" i="0">
                <a:solidFill>
                  <a:srgbClr val="202124"/>
                </a:solidFill>
                <a:latin typeface="Arial"/>
              </a:rPr>
              <a:t>GreenRoute sits in front of Gemini and makes three decisions for every request, runs it on Vertex AI, and writes a carbon receipt (Wh, g CO₂, % saved against “largest model, Mumbai grid, run now”) to a realtime Firestore ledger.</a:t>
            </a:r>
          </a:p>
        </p:txBody>
      </p:sp>
      <p:sp>
        <p:nvSpPr>
          <p:cNvPr id="75" name="Rounded Rectangle 74"/>
          <p:cNvSpPr/>
          <p:nvPr/>
        </p:nvSpPr>
        <p:spPr>
          <a:xfrm>
            <a:off x="4800600" y="1261872"/>
            <a:ext cx="3977639" cy="82296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Oval 75"/>
          <p:cNvSpPr/>
          <p:nvPr/>
        </p:nvSpPr>
        <p:spPr>
          <a:xfrm>
            <a:off x="4956048" y="1444751"/>
            <a:ext cx="457200" cy="45720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MdPsychology.png"/>
          <p:cNvPicPr>
            <a:picLocks noChangeAspect="1"/>
          </p:cNvPicPr>
          <p:nvPr/>
        </p:nvPicPr>
        <p:blipFill>
          <a:blip r:embed="rId4"/>
          <a:stretch>
            <a:fillRect/>
          </a:stretch>
        </p:blipFill>
        <p:spPr>
          <a:xfrm>
            <a:off x="5056632" y="1545336"/>
            <a:ext cx="256032" cy="256032"/>
          </a:xfrm>
          <a:prstGeom prst="rect">
            <a:avLst/>
          </a:prstGeom>
        </p:spPr>
      </p:pic>
      <p:sp>
        <p:nvSpPr>
          <p:cNvPr id="78" name="TextBox 77"/>
          <p:cNvSpPr txBox="1"/>
          <p:nvPr/>
        </p:nvSpPr>
        <p:spPr>
          <a:xfrm>
            <a:off x="5559552" y="1371600"/>
            <a:ext cx="3108960" cy="228600"/>
          </a:xfrm>
          <a:prstGeom prst="rect">
            <a:avLst/>
          </a:prstGeom>
          <a:noFill/>
        </p:spPr>
        <p:txBody>
          <a:bodyPr wrap="square" lIns="0" rIns="0" tIns="0" bIns="0" anchor="t"/>
          <a:lstStyle/>
          <a:p>
            <a:pPr algn="l"/>
            <a:r>
              <a:rPr sz="1200" b="1" i="0">
                <a:solidFill>
                  <a:srgbClr val="188038"/>
                </a:solidFill>
                <a:latin typeface="Arial"/>
              </a:rPr>
              <a:t>Which model</a:t>
            </a:r>
          </a:p>
        </p:txBody>
      </p:sp>
      <p:sp>
        <p:nvSpPr>
          <p:cNvPr id="79" name="TextBox 78"/>
          <p:cNvSpPr txBox="1"/>
          <p:nvPr/>
        </p:nvSpPr>
        <p:spPr>
          <a:xfrm>
            <a:off x="5559552" y="1591055"/>
            <a:ext cx="3108960" cy="457200"/>
          </a:xfrm>
          <a:prstGeom prst="rect">
            <a:avLst/>
          </a:prstGeom>
          <a:noFill/>
        </p:spPr>
        <p:txBody>
          <a:bodyPr wrap="square" lIns="0" rIns="0" tIns="0" bIns="0" anchor="t"/>
          <a:lstStyle/>
          <a:p>
            <a:pPr algn="l"/>
            <a:r>
              <a:rPr sz="950" b="0" i="0">
                <a:solidFill>
                  <a:srgbClr val="202124"/>
                </a:solidFill>
                <a:latin typeface="Arial"/>
              </a:rPr>
              <a:t>Gemini Flash-Lite triages complexity and picks the smallest tier that answers well: Flash-Lite, Flash or Pro.</a:t>
            </a:r>
          </a:p>
        </p:txBody>
      </p:sp>
      <p:sp>
        <p:nvSpPr>
          <p:cNvPr id="80" name="Rounded Rectangle 79"/>
          <p:cNvSpPr/>
          <p:nvPr/>
        </p:nvSpPr>
        <p:spPr>
          <a:xfrm>
            <a:off x="4800600" y="2199132"/>
            <a:ext cx="3977639" cy="82296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4956048" y="2382012"/>
            <a:ext cx="457200" cy="45720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MdPublic.png"/>
          <p:cNvPicPr>
            <a:picLocks noChangeAspect="1"/>
          </p:cNvPicPr>
          <p:nvPr/>
        </p:nvPicPr>
        <p:blipFill>
          <a:blip r:embed="rId5"/>
          <a:stretch>
            <a:fillRect/>
          </a:stretch>
        </p:blipFill>
        <p:spPr>
          <a:xfrm>
            <a:off x="5056632" y="2482596"/>
            <a:ext cx="256032" cy="256032"/>
          </a:xfrm>
          <a:prstGeom prst="rect">
            <a:avLst/>
          </a:prstGeom>
        </p:spPr>
      </p:pic>
      <p:sp>
        <p:nvSpPr>
          <p:cNvPr id="83" name="TextBox 82"/>
          <p:cNvSpPr txBox="1"/>
          <p:nvPr/>
        </p:nvSpPr>
        <p:spPr>
          <a:xfrm>
            <a:off x="5559552" y="2308860"/>
            <a:ext cx="3108960" cy="228600"/>
          </a:xfrm>
          <a:prstGeom prst="rect">
            <a:avLst/>
          </a:prstGeom>
          <a:noFill/>
        </p:spPr>
        <p:txBody>
          <a:bodyPr wrap="square" lIns="0" rIns="0" tIns="0" bIns="0" anchor="t"/>
          <a:lstStyle/>
          <a:p>
            <a:pPr algn="l"/>
            <a:r>
              <a:rPr sz="1200" b="1" i="0">
                <a:solidFill>
                  <a:srgbClr val="1A73E8"/>
                </a:solidFill>
                <a:latin typeface="Arial"/>
              </a:rPr>
              <a:t>Where</a:t>
            </a:r>
          </a:p>
        </p:txBody>
      </p:sp>
      <p:sp>
        <p:nvSpPr>
          <p:cNvPr id="84" name="TextBox 83"/>
          <p:cNvSpPr txBox="1"/>
          <p:nvPr/>
        </p:nvSpPr>
        <p:spPr>
          <a:xfrm>
            <a:off x="5559552" y="2528315"/>
            <a:ext cx="3108960" cy="457200"/>
          </a:xfrm>
          <a:prstGeom prst="rect">
            <a:avLst/>
          </a:prstGeom>
          <a:noFill/>
        </p:spPr>
        <p:txBody>
          <a:bodyPr wrap="square" lIns="0" rIns="0" tIns="0" bIns="0" anchor="t"/>
          <a:lstStyle/>
          <a:p>
            <a:pPr algn="l"/>
            <a:r>
              <a:rPr sz="950" b="0" i="0">
                <a:solidFill>
                  <a:srgbClr val="202124"/>
                </a:solidFill>
                <a:latin typeface="Arial"/>
              </a:rPr>
              <a:t>The region with the lowest grid gCO₂/kWh that serves the model. India-only mode keeps data in Mumbai/Delhi.</a:t>
            </a:r>
          </a:p>
        </p:txBody>
      </p:sp>
      <p:sp>
        <p:nvSpPr>
          <p:cNvPr id="85" name="Rounded Rectangle 84"/>
          <p:cNvSpPr/>
          <p:nvPr/>
        </p:nvSpPr>
        <p:spPr>
          <a:xfrm>
            <a:off x="4800600" y="3136391"/>
            <a:ext cx="3977639" cy="82296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4956048" y="3319272"/>
            <a:ext cx="457200" cy="457200"/>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MdSchedule.png"/>
          <p:cNvPicPr>
            <a:picLocks noChangeAspect="1"/>
          </p:cNvPicPr>
          <p:nvPr/>
        </p:nvPicPr>
        <p:blipFill>
          <a:blip r:embed="rId6"/>
          <a:stretch>
            <a:fillRect/>
          </a:stretch>
        </p:blipFill>
        <p:spPr>
          <a:xfrm>
            <a:off x="5056632" y="3419856"/>
            <a:ext cx="256032" cy="256032"/>
          </a:xfrm>
          <a:prstGeom prst="rect">
            <a:avLst/>
          </a:prstGeom>
        </p:spPr>
      </p:pic>
      <p:sp>
        <p:nvSpPr>
          <p:cNvPr id="88" name="TextBox 87"/>
          <p:cNvSpPr txBox="1"/>
          <p:nvPr/>
        </p:nvSpPr>
        <p:spPr>
          <a:xfrm>
            <a:off x="5559552" y="3246120"/>
            <a:ext cx="3108960" cy="228600"/>
          </a:xfrm>
          <a:prstGeom prst="rect">
            <a:avLst/>
          </a:prstGeom>
          <a:noFill/>
        </p:spPr>
        <p:txBody>
          <a:bodyPr wrap="square" lIns="0" rIns="0" tIns="0" bIns="0" anchor="t"/>
          <a:lstStyle/>
          <a:p>
            <a:pPr algn="l"/>
            <a:r>
              <a:rPr sz="1200" b="1" i="0">
                <a:solidFill>
                  <a:srgbClr val="E37400"/>
                </a:solidFill>
                <a:latin typeface="Arial"/>
              </a:rPr>
              <a:t>When</a:t>
            </a:r>
          </a:p>
        </p:txBody>
      </p:sp>
      <p:sp>
        <p:nvSpPr>
          <p:cNvPr id="89" name="TextBox 88"/>
          <p:cNvSpPr txBox="1"/>
          <p:nvPr/>
        </p:nvSpPr>
        <p:spPr>
          <a:xfrm>
            <a:off x="5559552" y="3465575"/>
            <a:ext cx="3108960" cy="457200"/>
          </a:xfrm>
          <a:prstGeom prst="rect">
            <a:avLst/>
          </a:prstGeom>
          <a:noFill/>
        </p:spPr>
        <p:txBody>
          <a:bodyPr wrap="square" lIns="0" rIns="0" tIns="0" bIns="0" anchor="t"/>
          <a:lstStyle/>
          <a:p>
            <a:pPr algn="l"/>
            <a:r>
              <a:rPr sz="950" b="0" i="0">
                <a:solidFill>
                  <a:srgbClr val="202124"/>
                </a:solidFill>
                <a:latin typeface="Arial"/>
              </a:rPr>
              <a:t>Deferrable batch jobs are queued on Pub/Sub for the greenest 30-minute window before their deadline.</a:t>
            </a:r>
          </a:p>
        </p:txBody>
      </p:sp>
      <p:sp>
        <p:nvSpPr>
          <p:cNvPr id="90" name="Rounded Rectangle 89"/>
          <p:cNvSpPr/>
          <p:nvPr/>
        </p:nvSpPr>
        <p:spPr>
          <a:xfrm>
            <a:off x="365760" y="4069080"/>
            <a:ext cx="2679192" cy="84124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530352" y="4160520"/>
            <a:ext cx="2377440" cy="365760"/>
          </a:xfrm>
          <a:prstGeom prst="rect">
            <a:avLst/>
          </a:prstGeom>
          <a:noFill/>
        </p:spPr>
        <p:txBody>
          <a:bodyPr wrap="square" lIns="0" rIns="0" tIns="0" bIns="0" anchor="t"/>
          <a:lstStyle/>
          <a:p>
            <a:pPr algn="l"/>
            <a:r>
              <a:rPr sz="2200" b="1" i="0">
                <a:solidFill>
                  <a:srgbClr val="188038"/>
                </a:solidFill>
                <a:latin typeface="Arial"/>
              </a:rPr>
              <a:t>−96.9%</a:t>
            </a:r>
          </a:p>
        </p:txBody>
      </p:sp>
      <p:sp>
        <p:nvSpPr>
          <p:cNvPr id="92" name="TextBox 91"/>
          <p:cNvSpPr txBox="1"/>
          <p:nvPr/>
        </p:nvSpPr>
        <p:spPr>
          <a:xfrm>
            <a:off x="530352" y="4526280"/>
            <a:ext cx="2395728" cy="365760"/>
          </a:xfrm>
          <a:prstGeom prst="rect">
            <a:avLst/>
          </a:prstGeom>
          <a:noFill/>
        </p:spPr>
        <p:txBody>
          <a:bodyPr wrap="square" lIns="0" rIns="0" tIns="0" bIns="0" anchor="t"/>
          <a:lstStyle/>
          <a:p>
            <a:pPr algn="l"/>
            <a:r>
              <a:rPr sz="900" b="0" i="0">
                <a:solidFill>
                  <a:srgbClr val="5F6368"/>
                </a:solidFill>
                <a:latin typeface="Arial"/>
              </a:rPr>
              <a:t>CO₂ on 27.3M real production requests (fleet replay, best case)</a:t>
            </a:r>
          </a:p>
        </p:txBody>
      </p:sp>
      <p:sp>
        <p:nvSpPr>
          <p:cNvPr id="93" name="Rounded Rectangle 92"/>
          <p:cNvSpPr/>
          <p:nvPr/>
        </p:nvSpPr>
        <p:spPr>
          <a:xfrm>
            <a:off x="3232404" y="4069080"/>
            <a:ext cx="2679192" cy="84124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3396996" y="4160520"/>
            <a:ext cx="2377440" cy="365760"/>
          </a:xfrm>
          <a:prstGeom prst="rect">
            <a:avLst/>
          </a:prstGeom>
          <a:noFill/>
        </p:spPr>
        <p:txBody>
          <a:bodyPr wrap="square" lIns="0" rIns="0" tIns="0" bIns="0" anchor="t"/>
          <a:lstStyle/>
          <a:p>
            <a:pPr algn="l"/>
            <a:r>
              <a:rPr sz="2200" b="1" i="0">
                <a:solidFill>
                  <a:srgbClr val="188038"/>
                </a:solidFill>
                <a:latin typeface="Arial"/>
              </a:rPr>
              <a:t>−56.8%</a:t>
            </a:r>
          </a:p>
        </p:txBody>
      </p:sp>
      <p:sp>
        <p:nvSpPr>
          <p:cNvPr id="95" name="TextBox 94"/>
          <p:cNvSpPr txBox="1"/>
          <p:nvPr/>
        </p:nvSpPr>
        <p:spPr>
          <a:xfrm>
            <a:off x="3396996" y="4526280"/>
            <a:ext cx="2395728" cy="365760"/>
          </a:xfrm>
          <a:prstGeom prst="rect">
            <a:avLst/>
          </a:prstGeom>
          <a:noFill/>
        </p:spPr>
        <p:txBody>
          <a:bodyPr wrap="square" lIns="0" rIns="0" tIns="0" bIns="0" anchor="t"/>
          <a:lstStyle/>
          <a:p>
            <a:pPr algn="l"/>
            <a:r>
              <a:rPr sz="900" b="0" i="0">
                <a:solidFill>
                  <a:srgbClr val="5F6368"/>
                </a:solidFill>
                <a:latin typeface="Arial"/>
              </a:rPr>
              <a:t>even in India-only mode, from right-sizing the model alone</a:t>
            </a:r>
          </a:p>
        </p:txBody>
      </p:sp>
      <p:sp>
        <p:nvSpPr>
          <p:cNvPr id="96" name="Rounded Rectangle 95"/>
          <p:cNvSpPr/>
          <p:nvPr/>
        </p:nvSpPr>
        <p:spPr>
          <a:xfrm>
            <a:off x="6099048" y="4069080"/>
            <a:ext cx="2679192" cy="84124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6263640" y="4160520"/>
            <a:ext cx="2377440" cy="365760"/>
          </a:xfrm>
          <a:prstGeom prst="rect">
            <a:avLst/>
          </a:prstGeom>
          <a:noFill/>
        </p:spPr>
        <p:txBody>
          <a:bodyPr wrap="square" lIns="0" rIns="0" tIns="0" bIns="0" anchor="t"/>
          <a:lstStyle/>
          <a:p>
            <a:pPr algn="l"/>
            <a:r>
              <a:rPr sz="2200" b="1" i="0">
                <a:solidFill>
                  <a:srgbClr val="188038"/>
                </a:solidFill>
                <a:latin typeface="Arial"/>
              </a:rPr>
              <a:t>83%</a:t>
            </a:r>
          </a:p>
        </p:txBody>
      </p:sp>
      <p:sp>
        <p:nvSpPr>
          <p:cNvPr id="98" name="TextBox 97"/>
          <p:cNvSpPr txBox="1"/>
          <p:nvPr/>
        </p:nvSpPr>
        <p:spPr>
          <a:xfrm>
            <a:off x="6263640" y="4526280"/>
            <a:ext cx="2395728" cy="365760"/>
          </a:xfrm>
          <a:prstGeom prst="rect">
            <a:avLst/>
          </a:prstGeom>
          <a:noFill/>
        </p:spPr>
        <p:txBody>
          <a:bodyPr wrap="square" lIns="0" rIns="0" tIns="0" bIns="0" anchor="t"/>
          <a:lstStyle/>
          <a:p>
            <a:pPr algn="l"/>
            <a:r>
              <a:rPr sz="900" b="0" i="0">
                <a:solidFill>
                  <a:srgbClr val="5F6368"/>
                </a:solidFill>
                <a:latin typeface="Arial"/>
              </a:rPr>
              <a:t>CO₂ saved across the 11 live requests in our deployed prototype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65760" y="1261872"/>
            <a:ext cx="2679192" cy="205740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502920" y="1371600"/>
            <a:ext cx="347472" cy="34747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MdCompareArrows.png"/>
          <p:cNvPicPr>
            <a:picLocks noChangeAspect="1"/>
          </p:cNvPicPr>
          <p:nvPr/>
        </p:nvPicPr>
        <p:blipFill>
          <a:blip r:embed="rId5"/>
          <a:stretch>
            <a:fillRect/>
          </a:stretch>
        </p:blipFill>
        <p:spPr>
          <a:xfrm>
            <a:off x="579363" y="1448043"/>
            <a:ext cx="194584" cy="194584"/>
          </a:xfrm>
          <a:prstGeom prst="rect">
            <a:avLst/>
          </a:prstGeom>
        </p:spPr>
      </p:pic>
      <p:sp>
        <p:nvSpPr>
          <p:cNvPr id="83" name="TextBox 82"/>
          <p:cNvSpPr txBox="1"/>
          <p:nvPr/>
        </p:nvSpPr>
        <p:spPr>
          <a:xfrm>
            <a:off x="932688" y="1371600"/>
            <a:ext cx="2011680" cy="384048"/>
          </a:xfrm>
          <a:prstGeom prst="rect">
            <a:avLst/>
          </a:prstGeom>
          <a:noFill/>
        </p:spPr>
        <p:txBody>
          <a:bodyPr wrap="square" lIns="0" rIns="0" tIns="0" bIns="0" anchor="ctr"/>
          <a:lstStyle/>
          <a:p>
            <a:pPr algn="l"/>
            <a:r>
              <a:rPr sz="1000" b="1" i="0">
                <a:solidFill>
                  <a:srgbClr val="202124"/>
                </a:solidFill>
                <a:latin typeface="Arial"/>
              </a:rPr>
              <a:t>How different is it from any of the other existing ideas?</a:t>
            </a:r>
          </a:p>
        </p:txBody>
      </p:sp>
      <p:sp>
        <p:nvSpPr>
          <p:cNvPr id="84" name="TextBox 83"/>
          <p:cNvSpPr txBox="1"/>
          <p:nvPr/>
        </p:nvSpPr>
        <p:spPr>
          <a:xfrm>
            <a:off x="502920" y="1828800"/>
            <a:ext cx="2432304" cy="1463040"/>
          </a:xfrm>
          <a:prstGeom prst="rect">
            <a:avLst/>
          </a:prstGeom>
          <a:noFill/>
        </p:spPr>
        <p:txBody>
          <a:bodyPr wrap="square" lIns="0" rIns="0" tIns="0" bIns="0" anchor="t"/>
          <a:lstStyle/>
          <a:p>
            <a:pPr algn="l" marL="146304" indent="-146304">
              <a:spcAft>
                <a:spcPts val="300"/>
              </a:spcAft>
              <a:buFont typeface="Arial"/>
              <a:buChar char="•"/>
            </a:pPr>
            <a:r>
              <a:rPr sz="950" b="0" i="0">
                <a:solidFill>
                  <a:srgbClr val="202124"/>
                </a:solidFill>
                <a:latin typeface="Arial"/>
              </a:rPr>
              <a:t>LLM routers (RouteLLM, Not Diamond, OpenRouter) pick a model to cut cost, not carbon.</a:t>
            </a:r>
          </a:p>
          <a:p>
            <a:pPr algn="l" marL="146304" indent="-146304">
              <a:spcAft>
                <a:spcPts val="300"/>
              </a:spcAft>
              <a:buFont typeface="Arial"/>
              <a:buChar char="•"/>
            </a:pPr>
            <a:r>
              <a:rPr sz="950" b="0" i="0">
                <a:solidFill>
                  <a:srgbClr val="202124"/>
                </a:solidFill>
                <a:latin typeface="Arial"/>
              </a:rPr>
              <a:t>Carbon-aware schedulers move batch jobs, not live prompts.</a:t>
            </a:r>
          </a:p>
          <a:p>
            <a:pPr algn="l" marL="146304" indent="-146304">
              <a:spcAft>
                <a:spcPts val="300"/>
              </a:spcAft>
              <a:buFont typeface="Arial"/>
              <a:buChar char="•"/>
            </a:pPr>
            <a:r>
              <a:rPr sz="950" b="0" i="0">
                <a:solidFill>
                  <a:srgbClr val="202124"/>
                </a:solidFill>
                <a:latin typeface="Arial"/>
              </a:rPr>
              <a:t>Measurement tools only report emissions.</a:t>
            </a:r>
          </a:p>
          <a:p>
            <a:pPr algn="l" marL="146304" indent="-146304">
              <a:spcAft>
                <a:spcPts val="300"/>
              </a:spcAft>
              <a:buFont typeface="Arial"/>
              <a:buChar char="•"/>
            </a:pPr>
            <a:r>
              <a:rPr sz="950" b="0" i="0">
                <a:solidFill>
                  <a:srgbClr val="202124"/>
                </a:solidFill>
                <a:latin typeface="Arial"/>
              </a:rPr>
              <a:t>GreenRoute makes all three decisions for every prompt, live.</a:t>
            </a:r>
          </a:p>
        </p:txBody>
      </p:sp>
      <p:sp>
        <p:nvSpPr>
          <p:cNvPr id="85" name="Rounded Rectangle 84"/>
          <p:cNvSpPr/>
          <p:nvPr/>
        </p:nvSpPr>
        <p:spPr>
          <a:xfrm>
            <a:off x="3232404" y="1261872"/>
            <a:ext cx="2679192" cy="205740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3369564" y="1371600"/>
            <a:ext cx="347472" cy="347472"/>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MdLightbulb.png"/>
          <p:cNvPicPr>
            <a:picLocks noChangeAspect="1"/>
          </p:cNvPicPr>
          <p:nvPr/>
        </p:nvPicPr>
        <p:blipFill>
          <a:blip r:embed="rId6"/>
          <a:stretch>
            <a:fillRect/>
          </a:stretch>
        </p:blipFill>
        <p:spPr>
          <a:xfrm>
            <a:off x="3446007" y="1448043"/>
            <a:ext cx="194584" cy="194584"/>
          </a:xfrm>
          <a:prstGeom prst="rect">
            <a:avLst/>
          </a:prstGeom>
        </p:spPr>
      </p:pic>
      <p:sp>
        <p:nvSpPr>
          <p:cNvPr id="88" name="TextBox 87"/>
          <p:cNvSpPr txBox="1"/>
          <p:nvPr/>
        </p:nvSpPr>
        <p:spPr>
          <a:xfrm>
            <a:off x="3799332" y="1371600"/>
            <a:ext cx="2011680" cy="384048"/>
          </a:xfrm>
          <a:prstGeom prst="rect">
            <a:avLst/>
          </a:prstGeom>
          <a:noFill/>
        </p:spPr>
        <p:txBody>
          <a:bodyPr wrap="square" lIns="0" rIns="0" tIns="0" bIns="0" anchor="ctr"/>
          <a:lstStyle/>
          <a:p>
            <a:pPr algn="l"/>
            <a:r>
              <a:rPr sz="1000" b="1" i="0">
                <a:solidFill>
                  <a:srgbClr val="202124"/>
                </a:solidFill>
                <a:latin typeface="Arial"/>
              </a:rPr>
              <a:t>How will it be able to solve the problem?</a:t>
            </a:r>
          </a:p>
        </p:txBody>
      </p:sp>
      <p:sp>
        <p:nvSpPr>
          <p:cNvPr id="89" name="TextBox 88"/>
          <p:cNvSpPr txBox="1"/>
          <p:nvPr/>
        </p:nvSpPr>
        <p:spPr>
          <a:xfrm>
            <a:off x="3369564" y="1828800"/>
            <a:ext cx="2432304" cy="1463040"/>
          </a:xfrm>
          <a:prstGeom prst="rect">
            <a:avLst/>
          </a:prstGeom>
          <a:noFill/>
        </p:spPr>
        <p:txBody>
          <a:bodyPr wrap="square" lIns="0" rIns="0" tIns="0" bIns="0" anchor="t"/>
          <a:lstStyle/>
          <a:p>
            <a:pPr algn="l" marL="146304" indent="-146304">
              <a:spcAft>
                <a:spcPts val="300"/>
              </a:spcAft>
              <a:buFont typeface="Arial"/>
              <a:buChar char="•"/>
            </a:pPr>
            <a:r>
              <a:rPr sz="950" b="0" i="0">
                <a:solidFill>
                  <a:srgbClr val="202124"/>
                </a:solidFill>
                <a:latin typeface="Arial"/>
              </a:rPr>
              <a:t>Right-sizing: 49% of real traffic fits Flash-Lite and 41% Flash.</a:t>
            </a:r>
          </a:p>
          <a:p>
            <a:pPr algn="l" marL="146304" indent="-146304">
              <a:spcAft>
                <a:spcPts val="300"/>
              </a:spcAft>
              <a:buFont typeface="Arial"/>
              <a:buChar char="•"/>
            </a:pPr>
            <a:r>
              <a:rPr sz="950" b="0" i="0">
                <a:solidFill>
                  <a:srgbClr val="202124"/>
                </a:solidFill>
                <a:latin typeface="Arial"/>
              </a:rPr>
              <a:t>Clean grids: Montréal ≈2 vs Mumbai ≈648 gCO₂/kWh.</a:t>
            </a:r>
          </a:p>
          <a:p>
            <a:pPr algn="l" marL="146304" indent="-146304">
              <a:spcAft>
                <a:spcPts val="300"/>
              </a:spcAft>
              <a:buFont typeface="Arial"/>
              <a:buChar char="•"/>
            </a:pPr>
            <a:r>
              <a:rPr sz="950" b="0" i="0">
                <a:solidFill>
                  <a:srgbClr val="202124"/>
                </a:solidFill>
                <a:latin typeface="Arial"/>
              </a:rPr>
              <a:t>Time-shifting deferrable work into green windows.</a:t>
            </a:r>
          </a:p>
          <a:p>
            <a:pPr algn="l" marL="146304" indent="-146304">
              <a:spcAft>
                <a:spcPts val="300"/>
              </a:spcAft>
              <a:buFont typeface="Arial"/>
              <a:buChar char="•"/>
            </a:pPr>
            <a:r>
              <a:rPr sz="950" b="0" i="0">
                <a:solidFill>
                  <a:srgbClr val="202124"/>
                </a:solidFill>
                <a:latin typeface="Arial"/>
              </a:rPr>
              <a:t>Every request is measured, so savings are provable.</a:t>
            </a:r>
          </a:p>
        </p:txBody>
      </p:sp>
      <p:sp>
        <p:nvSpPr>
          <p:cNvPr id="90" name="Rounded Rectangle 89"/>
          <p:cNvSpPr/>
          <p:nvPr/>
        </p:nvSpPr>
        <p:spPr>
          <a:xfrm>
            <a:off x="6099048" y="1261872"/>
            <a:ext cx="2679192" cy="205740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6236208" y="1371600"/>
            <a:ext cx="347472" cy="347472"/>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MdFlag.png"/>
          <p:cNvPicPr>
            <a:picLocks noChangeAspect="1"/>
          </p:cNvPicPr>
          <p:nvPr/>
        </p:nvPicPr>
        <p:blipFill>
          <a:blip r:embed="rId7"/>
          <a:stretch>
            <a:fillRect/>
          </a:stretch>
        </p:blipFill>
        <p:spPr>
          <a:xfrm>
            <a:off x="6312651" y="1448043"/>
            <a:ext cx="194584" cy="194584"/>
          </a:xfrm>
          <a:prstGeom prst="rect">
            <a:avLst/>
          </a:prstGeom>
        </p:spPr>
      </p:pic>
      <p:sp>
        <p:nvSpPr>
          <p:cNvPr id="93" name="TextBox 92"/>
          <p:cNvSpPr txBox="1"/>
          <p:nvPr/>
        </p:nvSpPr>
        <p:spPr>
          <a:xfrm>
            <a:off x="6665976" y="1371600"/>
            <a:ext cx="2011680" cy="384048"/>
          </a:xfrm>
          <a:prstGeom prst="rect">
            <a:avLst/>
          </a:prstGeom>
          <a:noFill/>
        </p:spPr>
        <p:txBody>
          <a:bodyPr wrap="square" lIns="0" rIns="0" tIns="0" bIns="0" anchor="ctr"/>
          <a:lstStyle/>
          <a:p>
            <a:pPr algn="l"/>
            <a:r>
              <a:rPr sz="1000" b="1" i="0">
                <a:solidFill>
                  <a:srgbClr val="202124"/>
                </a:solidFill>
                <a:latin typeface="Arial"/>
              </a:rPr>
              <a:t>USP of the proposed solution</a:t>
            </a:r>
          </a:p>
        </p:txBody>
      </p:sp>
      <p:sp>
        <p:nvSpPr>
          <p:cNvPr id="94" name="TextBox 93"/>
          <p:cNvSpPr txBox="1"/>
          <p:nvPr/>
        </p:nvSpPr>
        <p:spPr>
          <a:xfrm>
            <a:off x="6236208" y="1828800"/>
            <a:ext cx="2432304" cy="1463040"/>
          </a:xfrm>
          <a:prstGeom prst="rect">
            <a:avLst/>
          </a:prstGeom>
          <a:noFill/>
        </p:spPr>
        <p:txBody>
          <a:bodyPr wrap="square" lIns="0" rIns="0" tIns="0" bIns="0" anchor="t"/>
          <a:lstStyle/>
          <a:p>
            <a:pPr algn="l" marL="146304" indent="-146304">
              <a:spcAft>
                <a:spcPts val="300"/>
              </a:spcAft>
              <a:buFont typeface="Arial"/>
              <a:buChar char="•"/>
            </a:pPr>
            <a:r>
              <a:rPr sz="950" b="0" i="0">
                <a:solidFill>
                  <a:srgbClr val="202124"/>
                </a:solidFill>
                <a:latin typeface="Arial"/>
              </a:rPr>
              <a:t>Per-request carbon receipt and realtime ledger.</a:t>
            </a:r>
          </a:p>
          <a:p>
            <a:pPr algn="l" marL="146304" indent="-146304">
              <a:spcAft>
                <a:spcPts val="300"/>
              </a:spcAft>
              <a:buFont typeface="Arial"/>
              <a:buChar char="•"/>
            </a:pPr>
            <a:r>
              <a:rPr sz="950" b="0" i="0">
                <a:solidFill>
                  <a:srgbClr val="202124"/>
                </a:solidFill>
                <a:latin typeface="Arial"/>
              </a:rPr>
              <a:t>Data-residency mode (India-only / DPDP).</a:t>
            </a:r>
          </a:p>
          <a:p>
            <a:pPr algn="l" marL="146304" indent="-146304">
              <a:spcAft>
                <a:spcPts val="300"/>
              </a:spcAft>
              <a:buFont typeface="Arial"/>
              <a:buChar char="•"/>
            </a:pPr>
            <a:r>
              <a:rPr sz="950" b="0" i="0">
                <a:solidFill>
                  <a:srgbClr val="202124"/>
                </a:solidFill>
                <a:latin typeface="Arial"/>
              </a:rPr>
              <a:t>Validated on 27.3M real production requests.</a:t>
            </a:r>
          </a:p>
          <a:p>
            <a:pPr algn="l" marL="146304" indent="-146304">
              <a:spcAft>
                <a:spcPts val="300"/>
              </a:spcAft>
              <a:buFont typeface="Arial"/>
              <a:buChar char="•"/>
            </a:pPr>
            <a:r>
              <a:rPr sz="950" b="0" i="0">
                <a:solidFill>
                  <a:srgbClr val="202124"/>
                </a:solidFill>
                <a:latin typeface="Arial"/>
              </a:rPr>
              <a:t>Serverless on Google Cloud; one API in front of Gemini.</a:t>
            </a:r>
          </a:p>
        </p:txBody>
      </p:sp>
      <p:graphicFrame>
        <p:nvGraphicFramePr>
          <p:cNvPr id="95" name="Table 94"/>
          <p:cNvGraphicFramePr>
            <a:graphicFrameLocks noGrp="1"/>
          </p:cNvGraphicFramePr>
          <p:nvPr/>
        </p:nvGraphicFramePr>
        <p:xfrm>
          <a:off x="365760" y="3456432"/>
          <a:ext cx="8412480" cy="1417320"/>
        </p:xfrm>
        <a:graphic>
          <a:graphicData uri="http://schemas.openxmlformats.org/drawingml/2006/table">
            <a:tbl>
              <a:tblPr firstRow="0" bandRow="0">
                <a:tableStyleId>{5C22544A-7EE6-4342-B048-85BDC9FD1C3A}</a:tableStyleId>
              </a:tblPr>
              <a:tblGrid>
                <a:gridCol w="3291840"/>
                <a:gridCol w="1234440"/>
                <a:gridCol w="1097280"/>
                <a:gridCol w="1234440"/>
                <a:gridCol w="1554480"/>
              </a:tblGrid>
              <a:tr h="283464">
                <a:tc>
                  <a:txBody>
                    <a:bodyPr wrap="square"/>
                    <a:lstStyle/>
                    <a:p>
                      <a:pPr algn="l"/>
                      <a:r>
                        <a:rPr sz="950" b="1">
                          <a:solidFill>
                            <a:srgbClr val="FFFFFF"/>
                          </a:solidFill>
                          <a:latin typeface="Arial"/>
                        </a:rPr>
                        <a:t>Approach</a:t>
                      </a:r>
                    </a:p>
                  </a:txBody>
                  <a:tcPr marL="73152" marR="73152" marT="27432" marB="27432" anchor="ctr">
                    <a:solidFill>
                      <a:srgbClr val="202124"/>
                    </a:solidFill>
                  </a:tcPr>
                </a:tc>
                <a:tc>
                  <a:txBody>
                    <a:bodyPr wrap="square"/>
                    <a:lstStyle/>
                    <a:p>
                      <a:pPr algn="ctr"/>
                      <a:r>
                        <a:rPr sz="950" b="1">
                          <a:solidFill>
                            <a:srgbClr val="FFFFFF"/>
                          </a:solidFill>
                          <a:latin typeface="Arial"/>
                        </a:rPr>
                        <a:t>Which model</a:t>
                      </a:r>
                    </a:p>
                  </a:txBody>
                  <a:tcPr marL="73152" marR="73152" marT="27432" marB="27432" anchor="ctr">
                    <a:solidFill>
                      <a:srgbClr val="202124"/>
                    </a:solidFill>
                  </a:tcPr>
                </a:tc>
                <a:tc>
                  <a:txBody>
                    <a:bodyPr wrap="square"/>
                    <a:lstStyle/>
                    <a:p>
                      <a:pPr algn="ctr"/>
                      <a:r>
                        <a:rPr sz="950" b="1">
                          <a:solidFill>
                            <a:srgbClr val="FFFFFF"/>
                          </a:solidFill>
                          <a:latin typeface="Arial"/>
                        </a:rPr>
                        <a:t>Where</a:t>
                      </a:r>
                    </a:p>
                  </a:txBody>
                  <a:tcPr marL="73152" marR="73152" marT="27432" marB="27432" anchor="ctr">
                    <a:solidFill>
                      <a:srgbClr val="202124"/>
                    </a:solidFill>
                  </a:tcPr>
                </a:tc>
                <a:tc>
                  <a:txBody>
                    <a:bodyPr wrap="square"/>
                    <a:lstStyle/>
                    <a:p>
                      <a:pPr algn="ctr"/>
                      <a:r>
                        <a:rPr sz="950" b="1">
                          <a:solidFill>
                            <a:srgbClr val="FFFFFF"/>
                          </a:solidFill>
                          <a:latin typeface="Arial"/>
                        </a:rPr>
                        <a:t>When</a:t>
                      </a:r>
                    </a:p>
                  </a:txBody>
                  <a:tcPr marL="73152" marR="73152" marT="27432" marB="27432" anchor="ctr">
                    <a:solidFill>
                      <a:srgbClr val="202124"/>
                    </a:solidFill>
                  </a:tcPr>
                </a:tc>
                <a:tc>
                  <a:txBody>
                    <a:bodyPr wrap="square"/>
                    <a:lstStyle/>
                    <a:p>
                      <a:pPr algn="ctr"/>
                      <a:r>
                        <a:rPr sz="950" b="1">
                          <a:solidFill>
                            <a:srgbClr val="FFFFFF"/>
                          </a:solidFill>
                          <a:latin typeface="Arial"/>
                        </a:rPr>
                        <a:t>CO₂ per request</a:t>
                      </a:r>
                    </a:p>
                  </a:txBody>
                  <a:tcPr marL="73152" marR="73152" marT="27432" marB="27432" anchor="ctr">
                    <a:solidFill>
                      <a:srgbClr val="202124"/>
                    </a:solidFill>
                  </a:tcPr>
                </a:tc>
              </a:tr>
              <a:tr h="283464">
                <a:tc>
                  <a:txBody>
                    <a:bodyPr wrap="square"/>
                    <a:lstStyle/>
                    <a:p>
                      <a:pPr algn="l"/>
                      <a:r>
                        <a:rPr sz="950" b="0">
                          <a:solidFill>
                            <a:srgbClr val="202124"/>
                          </a:solidFill>
                          <a:latin typeface="Arial"/>
                        </a:rPr>
                        <a:t>LLM routers (RouteLLM, Not Diamond, OpenRouter)</a:t>
                      </a:r>
                    </a:p>
                  </a:txBody>
                  <a:tcPr marL="73152" marR="73152" marT="27432" marB="27432" anchor="ctr">
                    <a:solidFill>
                      <a:srgbClr val="FFFFFF"/>
                    </a:solidFill>
                  </a:tcPr>
                </a:tc>
                <a:tc>
                  <a:txBody>
                    <a:bodyPr wrap="square"/>
                    <a:lstStyle/>
                    <a:p>
                      <a:pPr algn="ctr"/>
                      <a:r>
                        <a:rPr sz="950" b="1">
                          <a:solidFill>
                            <a:srgbClr val="188038"/>
                          </a:solidFill>
                          <a:latin typeface="Arial"/>
                        </a:rPr>
                        <a:t>✓ for cost</a:t>
                      </a:r>
                    </a:p>
                  </a:txBody>
                  <a:tcPr marL="73152" marR="73152" marT="27432" marB="27432" anchor="ctr">
                    <a:solidFill>
                      <a:srgbClr val="FFFFFF"/>
                    </a:solidFill>
                  </a:tcPr>
                </a:tc>
                <a:tc>
                  <a:txBody>
                    <a:bodyPr wrap="square"/>
                    <a:lstStyle/>
                    <a:p>
                      <a:pPr algn="ctr"/>
                      <a:r>
                        <a:rPr sz="950" b="0">
                          <a:solidFill>
                            <a:srgbClr val="5F6368"/>
                          </a:solidFill>
                          <a:latin typeface="Arial"/>
                        </a:rPr>
                        <a:t>—</a:t>
                      </a:r>
                    </a:p>
                  </a:txBody>
                  <a:tcPr marL="73152" marR="73152" marT="27432" marB="27432" anchor="ctr">
                    <a:solidFill>
                      <a:srgbClr val="FFFFFF"/>
                    </a:solidFill>
                  </a:tcPr>
                </a:tc>
                <a:tc>
                  <a:txBody>
                    <a:bodyPr wrap="square"/>
                    <a:lstStyle/>
                    <a:p>
                      <a:pPr algn="ctr"/>
                      <a:r>
                        <a:rPr sz="950" b="0">
                          <a:solidFill>
                            <a:srgbClr val="5F6368"/>
                          </a:solidFill>
                          <a:latin typeface="Arial"/>
                        </a:rPr>
                        <a:t>—</a:t>
                      </a:r>
                    </a:p>
                  </a:txBody>
                  <a:tcPr marL="73152" marR="73152" marT="27432" marB="27432" anchor="ctr">
                    <a:solidFill>
                      <a:srgbClr val="FFFFFF"/>
                    </a:solidFill>
                  </a:tcPr>
                </a:tc>
                <a:tc>
                  <a:txBody>
                    <a:bodyPr wrap="square"/>
                    <a:lstStyle/>
                    <a:p>
                      <a:pPr algn="ctr"/>
                      <a:r>
                        <a:rPr sz="950" b="0">
                          <a:solidFill>
                            <a:srgbClr val="5F6368"/>
                          </a:solidFill>
                          <a:latin typeface="Arial"/>
                        </a:rPr>
                        <a:t>—</a:t>
                      </a:r>
                    </a:p>
                  </a:txBody>
                  <a:tcPr marL="73152" marR="73152" marT="27432" marB="27432" anchor="ctr">
                    <a:solidFill>
                      <a:srgbClr val="FFFFFF"/>
                    </a:solidFill>
                  </a:tcPr>
                </a:tc>
              </a:tr>
              <a:tr h="283464">
                <a:tc>
                  <a:txBody>
                    <a:bodyPr wrap="square"/>
                    <a:lstStyle/>
                    <a:p>
                      <a:pPr algn="l"/>
                      <a:r>
                        <a:rPr sz="950" b="0">
                          <a:solidFill>
                            <a:srgbClr val="202124"/>
                          </a:solidFill>
                          <a:latin typeface="Arial"/>
                        </a:rPr>
                        <a:t>Carbon-aware schedulers (Google CICP, Carbon Aware SDK)</a:t>
                      </a:r>
                    </a:p>
                  </a:txBody>
                  <a:tcPr marL="73152" marR="73152" marT="27432" marB="27432" anchor="ctr">
                    <a:solidFill>
                      <a:srgbClr val="F8F9FA"/>
                    </a:solidFill>
                  </a:tcPr>
                </a:tc>
                <a:tc>
                  <a:txBody>
                    <a:bodyPr wrap="square"/>
                    <a:lstStyle/>
                    <a:p>
                      <a:pPr algn="ctr"/>
                      <a:r>
                        <a:rPr sz="950" b="0">
                          <a:solidFill>
                            <a:srgbClr val="5F6368"/>
                          </a:solidFill>
                          <a:latin typeface="Arial"/>
                        </a:rPr>
                        <a:t>—</a:t>
                      </a:r>
                    </a:p>
                  </a:txBody>
                  <a:tcPr marL="73152" marR="73152" marT="27432" marB="27432" anchor="ctr">
                    <a:solidFill>
                      <a:srgbClr val="F8F9FA"/>
                    </a:solidFill>
                  </a:tcPr>
                </a:tc>
                <a:tc>
                  <a:txBody>
                    <a:bodyPr wrap="square"/>
                    <a:lstStyle/>
                    <a:p>
                      <a:pPr algn="ctr"/>
                      <a:r>
                        <a:rPr sz="950" b="1">
                          <a:solidFill>
                            <a:srgbClr val="188038"/>
                          </a:solidFill>
                          <a:latin typeface="Arial"/>
                        </a:rPr>
                        <a:t>✓</a:t>
                      </a:r>
                    </a:p>
                  </a:txBody>
                  <a:tcPr marL="73152" marR="73152" marT="27432" marB="27432" anchor="ctr">
                    <a:solidFill>
                      <a:srgbClr val="F8F9FA"/>
                    </a:solidFill>
                  </a:tcPr>
                </a:tc>
                <a:tc>
                  <a:txBody>
                    <a:bodyPr wrap="square"/>
                    <a:lstStyle/>
                    <a:p>
                      <a:pPr algn="ctr"/>
                      <a:r>
                        <a:rPr sz="950" b="1">
                          <a:solidFill>
                            <a:srgbClr val="188038"/>
                          </a:solidFill>
                          <a:latin typeface="Arial"/>
                        </a:rPr>
                        <a:t>✓ batch only</a:t>
                      </a:r>
                    </a:p>
                  </a:txBody>
                  <a:tcPr marL="73152" marR="73152" marT="27432" marB="27432" anchor="ctr">
                    <a:solidFill>
                      <a:srgbClr val="F8F9FA"/>
                    </a:solidFill>
                  </a:tcPr>
                </a:tc>
                <a:tc>
                  <a:txBody>
                    <a:bodyPr wrap="square"/>
                    <a:lstStyle/>
                    <a:p>
                      <a:pPr algn="ctr"/>
                      <a:r>
                        <a:rPr sz="950" b="0">
                          <a:solidFill>
                            <a:srgbClr val="5F6368"/>
                          </a:solidFill>
                          <a:latin typeface="Arial"/>
                        </a:rPr>
                        <a:t>—</a:t>
                      </a:r>
                    </a:p>
                  </a:txBody>
                  <a:tcPr marL="73152" marR="73152" marT="27432" marB="27432" anchor="ctr">
                    <a:solidFill>
                      <a:srgbClr val="F8F9FA"/>
                    </a:solidFill>
                  </a:tcPr>
                </a:tc>
              </a:tr>
              <a:tr h="283464">
                <a:tc>
                  <a:txBody>
                    <a:bodyPr wrap="square"/>
                    <a:lstStyle/>
                    <a:p>
                      <a:pPr algn="l"/>
                      <a:r>
                        <a:rPr sz="950" b="0">
                          <a:solidFill>
                            <a:srgbClr val="202124"/>
                          </a:solidFill>
                          <a:latin typeface="Arial"/>
                        </a:rPr>
                        <a:t>Measurement tools (CodeCarbon, EcoLogits)</a:t>
                      </a:r>
                    </a:p>
                  </a:txBody>
                  <a:tcPr marL="73152" marR="73152" marT="27432" marB="27432" anchor="ctr">
                    <a:solidFill>
                      <a:srgbClr val="FFFFFF"/>
                    </a:solidFill>
                  </a:tcPr>
                </a:tc>
                <a:tc>
                  <a:txBody>
                    <a:bodyPr wrap="square"/>
                    <a:lstStyle/>
                    <a:p>
                      <a:pPr algn="ctr"/>
                      <a:r>
                        <a:rPr sz="950" b="0">
                          <a:solidFill>
                            <a:srgbClr val="5F6368"/>
                          </a:solidFill>
                          <a:latin typeface="Arial"/>
                        </a:rPr>
                        <a:t>—</a:t>
                      </a:r>
                    </a:p>
                  </a:txBody>
                  <a:tcPr marL="73152" marR="73152" marT="27432" marB="27432" anchor="ctr">
                    <a:solidFill>
                      <a:srgbClr val="FFFFFF"/>
                    </a:solidFill>
                  </a:tcPr>
                </a:tc>
                <a:tc>
                  <a:txBody>
                    <a:bodyPr wrap="square"/>
                    <a:lstStyle/>
                    <a:p>
                      <a:pPr algn="ctr"/>
                      <a:r>
                        <a:rPr sz="950" b="0">
                          <a:solidFill>
                            <a:srgbClr val="5F6368"/>
                          </a:solidFill>
                          <a:latin typeface="Arial"/>
                        </a:rPr>
                        <a:t>—</a:t>
                      </a:r>
                    </a:p>
                  </a:txBody>
                  <a:tcPr marL="73152" marR="73152" marT="27432" marB="27432" anchor="ctr">
                    <a:solidFill>
                      <a:srgbClr val="FFFFFF"/>
                    </a:solidFill>
                  </a:tcPr>
                </a:tc>
                <a:tc>
                  <a:txBody>
                    <a:bodyPr wrap="square"/>
                    <a:lstStyle/>
                    <a:p>
                      <a:pPr algn="ctr"/>
                      <a:r>
                        <a:rPr sz="950" b="0">
                          <a:solidFill>
                            <a:srgbClr val="5F6368"/>
                          </a:solidFill>
                          <a:latin typeface="Arial"/>
                        </a:rPr>
                        <a:t>—</a:t>
                      </a:r>
                    </a:p>
                  </a:txBody>
                  <a:tcPr marL="73152" marR="73152" marT="27432" marB="27432" anchor="ctr">
                    <a:solidFill>
                      <a:srgbClr val="FFFFFF"/>
                    </a:solidFill>
                  </a:tcPr>
                </a:tc>
                <a:tc>
                  <a:txBody>
                    <a:bodyPr wrap="square"/>
                    <a:lstStyle/>
                    <a:p>
                      <a:pPr algn="ctr"/>
                      <a:r>
                        <a:rPr sz="950" b="0">
                          <a:solidFill>
                            <a:srgbClr val="5F6368"/>
                          </a:solidFill>
                          <a:latin typeface="Arial"/>
                        </a:rPr>
                        <a:t>reports only</a:t>
                      </a:r>
                    </a:p>
                  </a:txBody>
                  <a:tcPr marL="73152" marR="73152" marT="27432" marB="27432" anchor="ctr">
                    <a:solidFill>
                      <a:srgbClr val="FFFFFF"/>
                    </a:solidFill>
                  </a:tcPr>
                </a:tc>
              </a:tr>
              <a:tr h="283464">
                <a:tc>
                  <a:txBody>
                    <a:bodyPr wrap="square"/>
                    <a:lstStyle/>
                    <a:p>
                      <a:pPr algn="l"/>
                      <a:r>
                        <a:rPr sz="950" b="1">
                          <a:solidFill>
                            <a:srgbClr val="202124"/>
                          </a:solidFill>
                          <a:latin typeface="Arial"/>
                        </a:rPr>
                        <a:t>GreenRoute AI</a:t>
                      </a:r>
                    </a:p>
                  </a:txBody>
                  <a:tcPr marL="73152" marR="73152" marT="27432" marB="27432" anchor="ctr">
                    <a:solidFill>
                      <a:srgbClr val="E6F4EA"/>
                    </a:solidFill>
                  </a:tcPr>
                </a:tc>
                <a:tc>
                  <a:txBody>
                    <a:bodyPr wrap="square"/>
                    <a:lstStyle/>
                    <a:p>
                      <a:pPr algn="ctr"/>
                      <a:r>
                        <a:rPr sz="950" b="1">
                          <a:solidFill>
                            <a:srgbClr val="188038"/>
                          </a:solidFill>
                          <a:latin typeface="Arial"/>
                        </a:rPr>
                        <a:t>✓</a:t>
                      </a:r>
                    </a:p>
                  </a:txBody>
                  <a:tcPr marL="73152" marR="73152" marT="27432" marB="27432" anchor="ctr">
                    <a:solidFill>
                      <a:srgbClr val="E6F4EA"/>
                    </a:solidFill>
                  </a:tcPr>
                </a:tc>
                <a:tc>
                  <a:txBody>
                    <a:bodyPr wrap="square"/>
                    <a:lstStyle/>
                    <a:p>
                      <a:pPr algn="ctr"/>
                      <a:r>
                        <a:rPr sz="950" b="1">
                          <a:solidFill>
                            <a:srgbClr val="188038"/>
                          </a:solidFill>
                          <a:latin typeface="Arial"/>
                        </a:rPr>
                        <a:t>✓</a:t>
                      </a:r>
                    </a:p>
                  </a:txBody>
                  <a:tcPr marL="73152" marR="73152" marT="27432" marB="27432" anchor="ctr">
                    <a:solidFill>
                      <a:srgbClr val="E6F4EA"/>
                    </a:solidFill>
                  </a:tcPr>
                </a:tc>
                <a:tc>
                  <a:txBody>
                    <a:bodyPr wrap="square"/>
                    <a:lstStyle/>
                    <a:p>
                      <a:pPr algn="ctr"/>
                      <a:r>
                        <a:rPr sz="950" b="1">
                          <a:solidFill>
                            <a:srgbClr val="188038"/>
                          </a:solidFill>
                          <a:latin typeface="Arial"/>
                        </a:rPr>
                        <a:t>✓</a:t>
                      </a:r>
                    </a:p>
                  </a:txBody>
                  <a:tcPr marL="73152" marR="73152" marT="27432" marB="27432" anchor="ctr">
                    <a:solidFill>
                      <a:srgbClr val="E6F4EA"/>
                    </a:solidFill>
                  </a:tcPr>
                </a:tc>
                <a:tc>
                  <a:txBody>
                    <a:bodyPr wrap="square"/>
                    <a:lstStyle/>
                    <a:p>
                      <a:pPr algn="ctr"/>
                      <a:r>
                        <a:rPr sz="950" b="1">
                          <a:solidFill>
                            <a:srgbClr val="188038"/>
                          </a:solidFill>
                          <a:latin typeface="Arial"/>
                        </a:rPr>
                        <a:t>✓ measured and acted on</a:t>
                      </a:r>
                    </a:p>
                  </a:txBody>
                  <a:tcPr marL="73152" marR="73152" marT="27432" marB="27432" anchor="ctr">
                    <a:solidFill>
                      <a:srgbClr val="E6F4E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65760" y="1261872"/>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512064" y="1408175"/>
            <a:ext cx="438912" cy="438912"/>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Picture 89" descr="MdPsychology.png"/>
          <p:cNvPicPr>
            <a:picLocks noChangeAspect="1"/>
          </p:cNvPicPr>
          <p:nvPr/>
        </p:nvPicPr>
        <p:blipFill>
          <a:blip r:embed="rId5"/>
          <a:stretch>
            <a:fillRect/>
          </a:stretch>
        </p:blipFill>
        <p:spPr>
          <a:xfrm>
            <a:off x="608624" y="1504736"/>
            <a:ext cx="245790" cy="245790"/>
          </a:xfrm>
          <a:prstGeom prst="rect">
            <a:avLst/>
          </a:prstGeom>
        </p:spPr>
      </p:pic>
      <p:sp>
        <p:nvSpPr>
          <p:cNvPr id="91" name="TextBox 90"/>
          <p:cNvSpPr txBox="1"/>
          <p:nvPr/>
        </p:nvSpPr>
        <p:spPr>
          <a:xfrm>
            <a:off x="512064" y="1956815"/>
            <a:ext cx="1728216" cy="228600"/>
          </a:xfrm>
          <a:prstGeom prst="rect">
            <a:avLst/>
          </a:prstGeom>
          <a:noFill/>
        </p:spPr>
        <p:txBody>
          <a:bodyPr wrap="square" lIns="0" rIns="0" tIns="0" bIns="0" anchor="t"/>
          <a:lstStyle/>
          <a:p>
            <a:pPr algn="l"/>
            <a:r>
              <a:rPr sz="1100" b="1" i="0">
                <a:solidFill>
                  <a:srgbClr val="202124"/>
                </a:solidFill>
                <a:latin typeface="Arial"/>
              </a:rPr>
              <a:t>Gemini triage</a:t>
            </a:r>
          </a:p>
        </p:txBody>
      </p:sp>
      <p:sp>
        <p:nvSpPr>
          <p:cNvPr id="92" name="TextBox 91"/>
          <p:cNvSpPr txBox="1"/>
          <p:nvPr/>
        </p:nvSpPr>
        <p:spPr>
          <a:xfrm>
            <a:off x="512064" y="2212848"/>
            <a:ext cx="1728216" cy="804672"/>
          </a:xfrm>
          <a:prstGeom prst="rect">
            <a:avLst/>
          </a:prstGeom>
          <a:noFill/>
        </p:spPr>
        <p:txBody>
          <a:bodyPr wrap="square" lIns="0" rIns="0" tIns="0" bIns="0" anchor="t"/>
          <a:lstStyle/>
          <a:p>
            <a:pPr algn="l"/>
            <a:r>
              <a:rPr sz="950" b="0" i="0">
                <a:solidFill>
                  <a:srgbClr val="5F6368"/>
                </a:solidFill>
                <a:latin typeface="Arial"/>
              </a:rPr>
              <a:t>Structured-JSON classification picks Flash-Lite, Flash or Pro for each prompt, text or image.</a:t>
            </a:r>
          </a:p>
        </p:txBody>
      </p:sp>
      <p:sp>
        <p:nvSpPr>
          <p:cNvPr id="93" name="Rounded Rectangle 92"/>
          <p:cNvSpPr/>
          <p:nvPr/>
        </p:nvSpPr>
        <p:spPr>
          <a:xfrm>
            <a:off x="2502712" y="1261872"/>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Oval 93"/>
          <p:cNvSpPr/>
          <p:nvPr/>
        </p:nvSpPr>
        <p:spPr>
          <a:xfrm>
            <a:off x="2649016" y="1408175"/>
            <a:ext cx="438912" cy="43891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5" name="Picture 94" descr="MdPublic.png"/>
          <p:cNvPicPr>
            <a:picLocks noChangeAspect="1"/>
          </p:cNvPicPr>
          <p:nvPr/>
        </p:nvPicPr>
        <p:blipFill>
          <a:blip r:embed="rId6"/>
          <a:stretch>
            <a:fillRect/>
          </a:stretch>
        </p:blipFill>
        <p:spPr>
          <a:xfrm>
            <a:off x="2745577" y="1504736"/>
            <a:ext cx="245790" cy="245790"/>
          </a:xfrm>
          <a:prstGeom prst="rect">
            <a:avLst/>
          </a:prstGeom>
        </p:spPr>
      </p:pic>
      <p:sp>
        <p:nvSpPr>
          <p:cNvPr id="96" name="TextBox 95"/>
          <p:cNvSpPr txBox="1"/>
          <p:nvPr/>
        </p:nvSpPr>
        <p:spPr>
          <a:xfrm>
            <a:off x="2649016" y="1956815"/>
            <a:ext cx="1728216" cy="228600"/>
          </a:xfrm>
          <a:prstGeom prst="rect">
            <a:avLst/>
          </a:prstGeom>
          <a:noFill/>
        </p:spPr>
        <p:txBody>
          <a:bodyPr wrap="square" lIns="0" rIns="0" tIns="0" bIns="0" anchor="t"/>
          <a:lstStyle/>
          <a:p>
            <a:pPr algn="l"/>
            <a:r>
              <a:rPr sz="1100" b="1" i="0">
                <a:solidFill>
                  <a:srgbClr val="202124"/>
                </a:solidFill>
                <a:latin typeface="Arial"/>
              </a:rPr>
              <a:t>Carbon-aware regions</a:t>
            </a:r>
          </a:p>
        </p:txBody>
      </p:sp>
      <p:sp>
        <p:nvSpPr>
          <p:cNvPr id="97" name="TextBox 96"/>
          <p:cNvSpPr txBox="1"/>
          <p:nvPr/>
        </p:nvSpPr>
        <p:spPr>
          <a:xfrm>
            <a:off x="2649016" y="2212848"/>
            <a:ext cx="1728216" cy="804672"/>
          </a:xfrm>
          <a:prstGeom prst="rect">
            <a:avLst/>
          </a:prstGeom>
          <a:noFill/>
        </p:spPr>
        <p:txBody>
          <a:bodyPr wrap="square" lIns="0" rIns="0" tIns="0" bIns="0" anchor="t"/>
          <a:lstStyle/>
          <a:p>
            <a:pPr algn="l"/>
            <a:r>
              <a:rPr sz="950" b="0" i="0">
                <a:solidFill>
                  <a:srgbClr val="5F6368"/>
                </a:solidFill>
                <a:latin typeface="Arial"/>
              </a:rPr>
              <a:t>Ranks 11 Google Cloud regions by grid intensity; falls back to the next-cleanest region that serves the model.</a:t>
            </a:r>
          </a:p>
        </p:txBody>
      </p:sp>
      <p:sp>
        <p:nvSpPr>
          <p:cNvPr id="98" name="Rounded Rectangle 97"/>
          <p:cNvSpPr/>
          <p:nvPr/>
        </p:nvSpPr>
        <p:spPr>
          <a:xfrm>
            <a:off x="4639665" y="1261872"/>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4785969" y="1408175"/>
            <a:ext cx="438912" cy="438912"/>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0" name="Picture 99" descr="MdSchedule.png"/>
          <p:cNvPicPr>
            <a:picLocks noChangeAspect="1"/>
          </p:cNvPicPr>
          <p:nvPr/>
        </p:nvPicPr>
        <p:blipFill>
          <a:blip r:embed="rId7"/>
          <a:stretch>
            <a:fillRect/>
          </a:stretch>
        </p:blipFill>
        <p:spPr>
          <a:xfrm>
            <a:off x="4882530" y="1504736"/>
            <a:ext cx="245790" cy="245790"/>
          </a:xfrm>
          <a:prstGeom prst="rect">
            <a:avLst/>
          </a:prstGeom>
        </p:spPr>
      </p:pic>
      <p:sp>
        <p:nvSpPr>
          <p:cNvPr id="101" name="TextBox 100"/>
          <p:cNvSpPr txBox="1"/>
          <p:nvPr/>
        </p:nvSpPr>
        <p:spPr>
          <a:xfrm>
            <a:off x="4785969" y="1956815"/>
            <a:ext cx="1728216" cy="228600"/>
          </a:xfrm>
          <a:prstGeom prst="rect">
            <a:avLst/>
          </a:prstGeom>
          <a:noFill/>
        </p:spPr>
        <p:txBody>
          <a:bodyPr wrap="square" lIns="0" rIns="0" tIns="0" bIns="0" anchor="t"/>
          <a:lstStyle/>
          <a:p>
            <a:pPr algn="l"/>
            <a:r>
              <a:rPr sz="1100" b="1" i="0">
                <a:solidFill>
                  <a:srgbClr val="202124"/>
                </a:solidFill>
                <a:latin typeface="Arial"/>
              </a:rPr>
              <a:t>Green scheduling</a:t>
            </a:r>
          </a:p>
        </p:txBody>
      </p:sp>
      <p:sp>
        <p:nvSpPr>
          <p:cNvPr id="102" name="TextBox 101"/>
          <p:cNvSpPr txBox="1"/>
          <p:nvPr/>
        </p:nvSpPr>
        <p:spPr>
          <a:xfrm>
            <a:off x="4785969" y="2212848"/>
            <a:ext cx="1728216" cy="804672"/>
          </a:xfrm>
          <a:prstGeom prst="rect">
            <a:avLst/>
          </a:prstGeom>
          <a:noFill/>
        </p:spPr>
        <p:txBody>
          <a:bodyPr wrap="square" lIns="0" rIns="0" tIns="0" bIns="0" anchor="t"/>
          <a:lstStyle/>
          <a:p>
            <a:pPr algn="l"/>
            <a:r>
              <a:rPr sz="950" b="0" i="0">
                <a:solidFill>
                  <a:srgbClr val="5F6368"/>
                </a:solidFill>
                <a:latin typeface="Arial"/>
              </a:rPr>
              <a:t>Deferrable jobs search 30-minute slots up to the deadline, queued on Pub/Sub and run by a push worker.</a:t>
            </a:r>
          </a:p>
        </p:txBody>
      </p:sp>
      <p:sp>
        <p:nvSpPr>
          <p:cNvPr id="103" name="Rounded Rectangle 102"/>
          <p:cNvSpPr/>
          <p:nvPr/>
        </p:nvSpPr>
        <p:spPr>
          <a:xfrm>
            <a:off x="6776618" y="1261872"/>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Oval 103"/>
          <p:cNvSpPr/>
          <p:nvPr/>
        </p:nvSpPr>
        <p:spPr>
          <a:xfrm>
            <a:off x="6922922" y="1408175"/>
            <a:ext cx="438912" cy="438912"/>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5" name="Picture 104" descr="MdVerifiedUser.png"/>
          <p:cNvPicPr>
            <a:picLocks noChangeAspect="1"/>
          </p:cNvPicPr>
          <p:nvPr/>
        </p:nvPicPr>
        <p:blipFill>
          <a:blip r:embed="rId8"/>
          <a:stretch>
            <a:fillRect/>
          </a:stretch>
        </p:blipFill>
        <p:spPr>
          <a:xfrm>
            <a:off x="7019483" y="1504736"/>
            <a:ext cx="245790" cy="245790"/>
          </a:xfrm>
          <a:prstGeom prst="rect">
            <a:avLst/>
          </a:prstGeom>
        </p:spPr>
      </p:pic>
      <p:sp>
        <p:nvSpPr>
          <p:cNvPr id="106" name="TextBox 105"/>
          <p:cNvSpPr txBox="1"/>
          <p:nvPr/>
        </p:nvSpPr>
        <p:spPr>
          <a:xfrm>
            <a:off x="6922922" y="1956815"/>
            <a:ext cx="1728216" cy="228600"/>
          </a:xfrm>
          <a:prstGeom prst="rect">
            <a:avLst/>
          </a:prstGeom>
          <a:noFill/>
        </p:spPr>
        <p:txBody>
          <a:bodyPr wrap="square" lIns="0" rIns="0" tIns="0" bIns="0" anchor="t"/>
          <a:lstStyle/>
          <a:p>
            <a:pPr algn="l"/>
            <a:r>
              <a:rPr sz="1100" b="1" i="0">
                <a:solidFill>
                  <a:srgbClr val="202124"/>
                </a:solidFill>
                <a:latin typeface="Arial"/>
              </a:rPr>
              <a:t>Data-residency mode</a:t>
            </a:r>
          </a:p>
        </p:txBody>
      </p:sp>
      <p:sp>
        <p:nvSpPr>
          <p:cNvPr id="107" name="TextBox 106"/>
          <p:cNvSpPr txBox="1"/>
          <p:nvPr/>
        </p:nvSpPr>
        <p:spPr>
          <a:xfrm>
            <a:off x="6922922" y="2212848"/>
            <a:ext cx="1728216" cy="804672"/>
          </a:xfrm>
          <a:prstGeom prst="rect">
            <a:avLst/>
          </a:prstGeom>
          <a:noFill/>
        </p:spPr>
        <p:txBody>
          <a:bodyPr wrap="square" lIns="0" rIns="0" tIns="0" bIns="0" anchor="t"/>
          <a:lstStyle/>
          <a:p>
            <a:pPr algn="l"/>
            <a:r>
              <a:rPr sz="950" b="0" i="0">
                <a:solidFill>
                  <a:srgbClr val="5F6368"/>
                </a:solidFill>
                <a:latin typeface="Arial"/>
              </a:rPr>
              <a:t>“India only” limits planning to Mumbai and Delhi for DPDP-sensitive workloads.</a:t>
            </a:r>
          </a:p>
        </p:txBody>
      </p:sp>
      <p:sp>
        <p:nvSpPr>
          <p:cNvPr id="108" name="Rounded Rectangle 107"/>
          <p:cNvSpPr/>
          <p:nvPr/>
        </p:nvSpPr>
        <p:spPr>
          <a:xfrm>
            <a:off x="365760" y="3154679"/>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Oval 108"/>
          <p:cNvSpPr/>
          <p:nvPr/>
        </p:nvSpPr>
        <p:spPr>
          <a:xfrm>
            <a:off x="512064" y="3300984"/>
            <a:ext cx="438912" cy="43891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0" name="Picture 109" descr="MdReceiptLong.png"/>
          <p:cNvPicPr>
            <a:picLocks noChangeAspect="1"/>
          </p:cNvPicPr>
          <p:nvPr/>
        </p:nvPicPr>
        <p:blipFill>
          <a:blip r:embed="rId9"/>
          <a:stretch>
            <a:fillRect/>
          </a:stretch>
        </p:blipFill>
        <p:spPr>
          <a:xfrm>
            <a:off x="608624" y="3397544"/>
            <a:ext cx="245790" cy="245790"/>
          </a:xfrm>
          <a:prstGeom prst="rect">
            <a:avLst/>
          </a:prstGeom>
        </p:spPr>
      </p:pic>
      <p:sp>
        <p:nvSpPr>
          <p:cNvPr id="111" name="TextBox 110"/>
          <p:cNvSpPr txBox="1"/>
          <p:nvPr/>
        </p:nvSpPr>
        <p:spPr>
          <a:xfrm>
            <a:off x="512064" y="3849624"/>
            <a:ext cx="1728216" cy="228600"/>
          </a:xfrm>
          <a:prstGeom prst="rect">
            <a:avLst/>
          </a:prstGeom>
          <a:noFill/>
        </p:spPr>
        <p:txBody>
          <a:bodyPr wrap="square" lIns="0" rIns="0" tIns="0" bIns="0" anchor="t"/>
          <a:lstStyle/>
          <a:p>
            <a:pPr algn="l"/>
            <a:r>
              <a:rPr sz="1100" b="1" i="0">
                <a:solidFill>
                  <a:srgbClr val="202124"/>
                </a:solidFill>
                <a:latin typeface="Arial"/>
              </a:rPr>
              <a:t>Carbon receipt</a:t>
            </a:r>
          </a:p>
        </p:txBody>
      </p:sp>
      <p:sp>
        <p:nvSpPr>
          <p:cNvPr id="112" name="TextBox 111"/>
          <p:cNvSpPr txBox="1"/>
          <p:nvPr/>
        </p:nvSpPr>
        <p:spPr>
          <a:xfrm>
            <a:off x="512064" y="4105656"/>
            <a:ext cx="1728216" cy="804672"/>
          </a:xfrm>
          <a:prstGeom prst="rect">
            <a:avLst/>
          </a:prstGeom>
          <a:noFill/>
        </p:spPr>
        <p:txBody>
          <a:bodyPr wrap="square" lIns="0" rIns="0" tIns="0" bIns="0" anchor="t"/>
          <a:lstStyle/>
          <a:p>
            <a:pPr algn="l"/>
            <a:r>
              <a:rPr sz="950" b="0" i="0">
                <a:solidFill>
                  <a:srgbClr val="5F6368"/>
                </a:solidFill>
                <a:latin typeface="Arial"/>
              </a:rPr>
              <a:t>Energy (Wh), CO₂ (g) and % saved for every request, from Gemini’s real token counts.</a:t>
            </a:r>
          </a:p>
        </p:txBody>
      </p:sp>
      <p:sp>
        <p:nvSpPr>
          <p:cNvPr id="113" name="Rounded Rectangle 112"/>
          <p:cNvSpPr/>
          <p:nvPr/>
        </p:nvSpPr>
        <p:spPr>
          <a:xfrm>
            <a:off x="2502712" y="3154679"/>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Oval 113"/>
          <p:cNvSpPr/>
          <p:nvPr/>
        </p:nvSpPr>
        <p:spPr>
          <a:xfrm>
            <a:off x="2649016" y="3300984"/>
            <a:ext cx="438912" cy="438912"/>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5" name="Picture 114" descr="MdSensors.png"/>
          <p:cNvPicPr>
            <a:picLocks noChangeAspect="1"/>
          </p:cNvPicPr>
          <p:nvPr/>
        </p:nvPicPr>
        <p:blipFill>
          <a:blip r:embed="rId10"/>
          <a:stretch>
            <a:fillRect/>
          </a:stretch>
        </p:blipFill>
        <p:spPr>
          <a:xfrm>
            <a:off x="2745577" y="3397544"/>
            <a:ext cx="245790" cy="245790"/>
          </a:xfrm>
          <a:prstGeom prst="rect">
            <a:avLst/>
          </a:prstGeom>
        </p:spPr>
      </p:pic>
      <p:sp>
        <p:nvSpPr>
          <p:cNvPr id="116" name="TextBox 115"/>
          <p:cNvSpPr txBox="1"/>
          <p:nvPr/>
        </p:nvSpPr>
        <p:spPr>
          <a:xfrm>
            <a:off x="2649016" y="3849624"/>
            <a:ext cx="1728216" cy="228600"/>
          </a:xfrm>
          <a:prstGeom prst="rect">
            <a:avLst/>
          </a:prstGeom>
          <a:noFill/>
        </p:spPr>
        <p:txBody>
          <a:bodyPr wrap="square" lIns="0" rIns="0" tIns="0" bIns="0" anchor="t"/>
          <a:lstStyle/>
          <a:p>
            <a:pPr algn="l"/>
            <a:r>
              <a:rPr sz="1100" b="1" i="0">
                <a:solidFill>
                  <a:srgbClr val="202124"/>
                </a:solidFill>
                <a:latin typeface="Arial"/>
              </a:rPr>
              <a:t>Realtime ledger</a:t>
            </a:r>
          </a:p>
        </p:txBody>
      </p:sp>
      <p:sp>
        <p:nvSpPr>
          <p:cNvPr id="117" name="TextBox 116"/>
          <p:cNvSpPr txBox="1"/>
          <p:nvPr/>
        </p:nvSpPr>
        <p:spPr>
          <a:xfrm>
            <a:off x="2649016" y="4105656"/>
            <a:ext cx="1728216" cy="804672"/>
          </a:xfrm>
          <a:prstGeom prst="rect">
            <a:avLst/>
          </a:prstGeom>
          <a:noFill/>
        </p:spPr>
        <p:txBody>
          <a:bodyPr wrap="square" lIns="0" rIns="0" tIns="0" bIns="0" anchor="t"/>
          <a:lstStyle/>
          <a:p>
            <a:pPr algn="l"/>
            <a:r>
              <a:rPr sz="950" b="0" i="0">
                <a:solidFill>
                  <a:srgbClr val="5F6368"/>
                </a:solidFill>
                <a:latin typeface="Arial"/>
              </a:rPr>
              <a:t>Firestore streams every decision and the global KPIs to the dashboard with onSnapshot.</a:t>
            </a:r>
          </a:p>
        </p:txBody>
      </p:sp>
      <p:sp>
        <p:nvSpPr>
          <p:cNvPr id="118" name="Rounded Rectangle 117"/>
          <p:cNvSpPr/>
          <p:nvPr/>
        </p:nvSpPr>
        <p:spPr>
          <a:xfrm>
            <a:off x="4639665" y="3154679"/>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Oval 118"/>
          <p:cNvSpPr/>
          <p:nvPr/>
        </p:nvSpPr>
        <p:spPr>
          <a:xfrm>
            <a:off x="4785969" y="3300984"/>
            <a:ext cx="438912" cy="438912"/>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0" name="Picture 119" descr="MdInsights.png"/>
          <p:cNvPicPr>
            <a:picLocks noChangeAspect="1"/>
          </p:cNvPicPr>
          <p:nvPr/>
        </p:nvPicPr>
        <p:blipFill>
          <a:blip r:embed="rId11"/>
          <a:stretch>
            <a:fillRect/>
          </a:stretch>
        </p:blipFill>
        <p:spPr>
          <a:xfrm>
            <a:off x="4882530" y="3397544"/>
            <a:ext cx="245790" cy="245790"/>
          </a:xfrm>
          <a:prstGeom prst="rect">
            <a:avLst/>
          </a:prstGeom>
        </p:spPr>
      </p:pic>
      <p:sp>
        <p:nvSpPr>
          <p:cNvPr id="121" name="TextBox 120"/>
          <p:cNvSpPr txBox="1"/>
          <p:nvPr/>
        </p:nvSpPr>
        <p:spPr>
          <a:xfrm>
            <a:off x="4785969" y="3849624"/>
            <a:ext cx="1728216" cy="228600"/>
          </a:xfrm>
          <a:prstGeom prst="rect">
            <a:avLst/>
          </a:prstGeom>
          <a:noFill/>
        </p:spPr>
        <p:txBody>
          <a:bodyPr wrap="square" lIns="0" rIns="0" tIns="0" bIns="0" anchor="t"/>
          <a:lstStyle/>
          <a:p>
            <a:pPr algn="l"/>
            <a:r>
              <a:rPr sz="1100" b="1" i="0">
                <a:solidFill>
                  <a:srgbClr val="202124"/>
                </a:solidFill>
                <a:latin typeface="Arial"/>
              </a:rPr>
              <a:t>Fleet replay and forecast</a:t>
            </a:r>
          </a:p>
        </p:txBody>
      </p:sp>
      <p:sp>
        <p:nvSpPr>
          <p:cNvPr id="122" name="TextBox 121"/>
          <p:cNvSpPr txBox="1"/>
          <p:nvPr/>
        </p:nvSpPr>
        <p:spPr>
          <a:xfrm>
            <a:off x="4785969" y="4105656"/>
            <a:ext cx="1728216" cy="804672"/>
          </a:xfrm>
          <a:prstGeom prst="rect">
            <a:avLst/>
          </a:prstGeom>
          <a:noFill/>
        </p:spPr>
        <p:txBody>
          <a:bodyPr wrap="square" lIns="0" rIns="0" tIns="0" bIns="0" anchor="t"/>
          <a:lstStyle/>
          <a:p>
            <a:pPr algn="l"/>
            <a:r>
              <a:rPr sz="950" b="0" i="0">
                <a:solidFill>
                  <a:srgbClr val="5F6368"/>
                </a:solidFill>
                <a:latin typeface="Arial"/>
              </a:rPr>
              <a:t>BigQuery replays 27.3M real requests; BigQuery ML predicts answer length and 24 h demand.</a:t>
            </a:r>
          </a:p>
        </p:txBody>
      </p:sp>
      <p:sp>
        <p:nvSpPr>
          <p:cNvPr id="123" name="Rounded Rectangle 122"/>
          <p:cNvSpPr/>
          <p:nvPr/>
        </p:nvSpPr>
        <p:spPr>
          <a:xfrm>
            <a:off x="6776618" y="3154679"/>
            <a:ext cx="2002536" cy="1783080"/>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Oval 123"/>
          <p:cNvSpPr/>
          <p:nvPr/>
        </p:nvSpPr>
        <p:spPr>
          <a:xfrm>
            <a:off x="6922922" y="3300984"/>
            <a:ext cx="438912" cy="43891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5" name="Picture 124" descr="MdQuestionAnswer.png"/>
          <p:cNvPicPr>
            <a:picLocks noChangeAspect="1"/>
          </p:cNvPicPr>
          <p:nvPr/>
        </p:nvPicPr>
        <p:blipFill>
          <a:blip r:embed="rId12"/>
          <a:stretch>
            <a:fillRect/>
          </a:stretch>
        </p:blipFill>
        <p:spPr>
          <a:xfrm>
            <a:off x="7019483" y="3397544"/>
            <a:ext cx="245790" cy="245790"/>
          </a:xfrm>
          <a:prstGeom prst="rect">
            <a:avLst/>
          </a:prstGeom>
        </p:spPr>
      </p:pic>
      <p:sp>
        <p:nvSpPr>
          <p:cNvPr id="126" name="TextBox 125"/>
          <p:cNvSpPr txBox="1"/>
          <p:nvPr/>
        </p:nvSpPr>
        <p:spPr>
          <a:xfrm>
            <a:off x="6922922" y="3849624"/>
            <a:ext cx="1728216" cy="228600"/>
          </a:xfrm>
          <a:prstGeom prst="rect">
            <a:avLst/>
          </a:prstGeom>
          <a:noFill/>
        </p:spPr>
        <p:txBody>
          <a:bodyPr wrap="square" lIns="0" rIns="0" tIns="0" bIns="0" anchor="t"/>
          <a:lstStyle/>
          <a:p>
            <a:pPr algn="l"/>
            <a:r>
              <a:rPr sz="1100" b="1" i="0">
                <a:solidFill>
                  <a:srgbClr val="202124"/>
                </a:solidFill>
                <a:latin typeface="Arial"/>
              </a:rPr>
              <a:t>Sustainability analyst</a:t>
            </a:r>
          </a:p>
        </p:txBody>
      </p:sp>
      <p:sp>
        <p:nvSpPr>
          <p:cNvPr id="127" name="TextBox 126"/>
          <p:cNvSpPr txBox="1"/>
          <p:nvPr/>
        </p:nvSpPr>
        <p:spPr>
          <a:xfrm>
            <a:off x="6922922" y="4105656"/>
            <a:ext cx="1728216" cy="804672"/>
          </a:xfrm>
          <a:prstGeom prst="rect">
            <a:avLst/>
          </a:prstGeom>
          <a:noFill/>
        </p:spPr>
        <p:txBody>
          <a:bodyPr wrap="square" lIns="0" rIns="0" tIns="0" bIns="0" anchor="t"/>
          <a:lstStyle/>
          <a:p>
            <a:pPr algn="l"/>
            <a:r>
              <a:rPr sz="950" b="0" i="0">
                <a:solidFill>
                  <a:srgbClr val="5F6368"/>
                </a:solidFill>
                <a:latin typeface="Arial"/>
              </a:rPr>
              <a:t>Ask in plain English; Gemini answers only from live Firestore and BigQuery data.</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365760" y="1261872"/>
            <a:ext cx="5440680" cy="470916"/>
          </a:xfrm>
          <a:prstGeom prst="roundRect">
            <a:avLst>
              <a:gd name="adj" fmla="val 12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475488" y="1351025"/>
            <a:ext cx="292608" cy="29260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1</a:t>
            </a:r>
          </a:p>
        </p:txBody>
      </p:sp>
      <p:sp>
        <p:nvSpPr>
          <p:cNvPr id="98" name="TextBox 97"/>
          <p:cNvSpPr txBox="1"/>
          <p:nvPr/>
        </p:nvSpPr>
        <p:spPr>
          <a:xfrm>
            <a:off x="896112" y="1325880"/>
            <a:ext cx="3429000" cy="182880"/>
          </a:xfrm>
          <a:prstGeom prst="rect">
            <a:avLst/>
          </a:prstGeom>
          <a:noFill/>
        </p:spPr>
        <p:txBody>
          <a:bodyPr wrap="square" lIns="0" rIns="0" tIns="0" bIns="0" anchor="t"/>
          <a:lstStyle/>
          <a:p>
            <a:pPr algn="l"/>
            <a:r>
              <a:rPr sz="1050" b="1" i="0">
                <a:solidFill>
                  <a:srgbClr val="202124"/>
                </a:solidFill>
                <a:latin typeface="Arial"/>
              </a:rPr>
              <a:t>User submits a prompt</a:t>
            </a:r>
          </a:p>
        </p:txBody>
      </p:sp>
      <p:sp>
        <p:nvSpPr>
          <p:cNvPr id="99" name="TextBox 98"/>
          <p:cNvSpPr txBox="1"/>
          <p:nvPr/>
        </p:nvSpPr>
        <p:spPr>
          <a:xfrm>
            <a:off x="896112" y="1517904"/>
            <a:ext cx="3429000" cy="182880"/>
          </a:xfrm>
          <a:prstGeom prst="rect">
            <a:avLst/>
          </a:prstGeom>
          <a:noFill/>
        </p:spPr>
        <p:txBody>
          <a:bodyPr wrap="square" lIns="0" rIns="0" tIns="0" bIns="0" anchor="t"/>
          <a:lstStyle/>
          <a:p>
            <a:pPr algn="l"/>
            <a:r>
              <a:rPr sz="850" b="0" i="0">
                <a:solidFill>
                  <a:srgbClr val="5F6368"/>
                </a:solidFill>
                <a:latin typeface="Arial"/>
              </a:rPr>
              <a:t>Prompt, deadline, residency and an optional image from the web app</a:t>
            </a:r>
          </a:p>
        </p:txBody>
      </p:sp>
      <p:sp>
        <p:nvSpPr>
          <p:cNvPr id="100" name="Rounded Rectangle 99"/>
          <p:cNvSpPr/>
          <p:nvPr/>
        </p:nvSpPr>
        <p:spPr>
          <a:xfrm>
            <a:off x="4434840" y="1378457"/>
            <a:ext cx="1261872" cy="237744"/>
          </a:xfrm>
          <a:prstGeom prst="roundRect">
            <a:avLst>
              <a:gd name="adj" fmla="val 50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37400"/>
                </a:solidFill>
                <a:latin typeface="Arial"/>
              </a:rPr>
              <a:t>Firebase Hosting</a:t>
            </a:r>
          </a:p>
        </p:txBody>
      </p:sp>
      <p:sp>
        <p:nvSpPr>
          <p:cNvPr id="101" name="Rounded Rectangle 100"/>
          <p:cNvSpPr/>
          <p:nvPr/>
        </p:nvSpPr>
        <p:spPr>
          <a:xfrm>
            <a:off x="365760" y="1792224"/>
            <a:ext cx="5440680" cy="470916"/>
          </a:xfrm>
          <a:prstGeom prst="roundRect">
            <a:avLst>
              <a:gd name="adj" fmla="val 12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Oval 101"/>
          <p:cNvSpPr/>
          <p:nvPr/>
        </p:nvSpPr>
        <p:spPr>
          <a:xfrm>
            <a:off x="475488" y="1881378"/>
            <a:ext cx="292608" cy="29260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2</a:t>
            </a:r>
          </a:p>
        </p:txBody>
      </p:sp>
      <p:sp>
        <p:nvSpPr>
          <p:cNvPr id="103" name="TextBox 102"/>
          <p:cNvSpPr txBox="1"/>
          <p:nvPr/>
        </p:nvSpPr>
        <p:spPr>
          <a:xfrm>
            <a:off x="896112" y="1856231"/>
            <a:ext cx="3429000" cy="182880"/>
          </a:xfrm>
          <a:prstGeom prst="rect">
            <a:avLst/>
          </a:prstGeom>
          <a:noFill/>
        </p:spPr>
        <p:txBody>
          <a:bodyPr wrap="square" lIns="0" rIns="0" tIns="0" bIns="0" anchor="t"/>
          <a:lstStyle/>
          <a:p>
            <a:pPr algn="l"/>
            <a:r>
              <a:rPr sz="1050" b="1" i="0">
                <a:solidFill>
                  <a:srgbClr val="202124"/>
                </a:solidFill>
                <a:latin typeface="Arial"/>
              </a:rPr>
              <a:t>Gemini triages complexity</a:t>
            </a:r>
          </a:p>
        </p:txBody>
      </p:sp>
      <p:sp>
        <p:nvSpPr>
          <p:cNvPr id="104" name="TextBox 103"/>
          <p:cNvSpPr txBox="1"/>
          <p:nvPr/>
        </p:nvSpPr>
        <p:spPr>
          <a:xfrm>
            <a:off x="896112" y="2048256"/>
            <a:ext cx="3429000" cy="182880"/>
          </a:xfrm>
          <a:prstGeom prst="rect">
            <a:avLst/>
          </a:prstGeom>
          <a:noFill/>
        </p:spPr>
        <p:txBody>
          <a:bodyPr wrap="square" lIns="0" rIns="0" tIns="0" bIns="0" anchor="t"/>
          <a:lstStyle/>
          <a:p>
            <a:pPr algn="l"/>
            <a:r>
              <a:rPr sz="850" b="0" i="0">
                <a:solidFill>
                  <a:srgbClr val="5F6368"/>
                </a:solidFill>
                <a:latin typeface="Arial"/>
              </a:rPr>
              <a:t>simple → Flash-Lite  ·  medium → Flash  ·  complex → Pro</a:t>
            </a:r>
          </a:p>
        </p:txBody>
      </p:sp>
      <p:sp>
        <p:nvSpPr>
          <p:cNvPr id="105" name="Rounded Rectangle 104"/>
          <p:cNvSpPr/>
          <p:nvPr/>
        </p:nvSpPr>
        <p:spPr>
          <a:xfrm>
            <a:off x="4434840" y="1908810"/>
            <a:ext cx="1261872" cy="237744"/>
          </a:xfrm>
          <a:prstGeom prst="roundRect">
            <a:avLst>
              <a:gd name="adj" fmla="val 50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A73E8"/>
                </a:solidFill>
                <a:latin typeface="Arial"/>
              </a:rPr>
              <a:t>Gemini · Vertex AI</a:t>
            </a:r>
          </a:p>
        </p:txBody>
      </p:sp>
      <p:sp>
        <p:nvSpPr>
          <p:cNvPr id="106" name="Rounded Rectangle 105"/>
          <p:cNvSpPr/>
          <p:nvPr/>
        </p:nvSpPr>
        <p:spPr>
          <a:xfrm>
            <a:off x="365760" y="2322576"/>
            <a:ext cx="5440680" cy="470916"/>
          </a:xfrm>
          <a:prstGeom prst="roundRect">
            <a:avLst>
              <a:gd name="adj" fmla="val 12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Oval 106"/>
          <p:cNvSpPr/>
          <p:nvPr/>
        </p:nvSpPr>
        <p:spPr>
          <a:xfrm>
            <a:off x="475488" y="2411730"/>
            <a:ext cx="292608" cy="29260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3</a:t>
            </a:r>
          </a:p>
        </p:txBody>
      </p:sp>
      <p:sp>
        <p:nvSpPr>
          <p:cNvPr id="108" name="TextBox 107"/>
          <p:cNvSpPr txBox="1"/>
          <p:nvPr/>
        </p:nvSpPr>
        <p:spPr>
          <a:xfrm>
            <a:off x="896112" y="2386584"/>
            <a:ext cx="3429000" cy="182880"/>
          </a:xfrm>
          <a:prstGeom prst="rect">
            <a:avLst/>
          </a:prstGeom>
          <a:noFill/>
        </p:spPr>
        <p:txBody>
          <a:bodyPr wrap="square" lIns="0" rIns="0" tIns="0" bIns="0" anchor="t"/>
          <a:lstStyle/>
          <a:p>
            <a:pPr algn="l"/>
            <a:r>
              <a:rPr sz="1050" b="1" i="0">
                <a:solidFill>
                  <a:srgbClr val="202124"/>
                </a:solidFill>
                <a:latin typeface="Arial"/>
              </a:rPr>
              <a:t>Estimate energy</a:t>
            </a:r>
          </a:p>
        </p:txBody>
      </p:sp>
      <p:sp>
        <p:nvSpPr>
          <p:cNvPr id="109" name="TextBox 108"/>
          <p:cNvSpPr txBox="1"/>
          <p:nvPr/>
        </p:nvSpPr>
        <p:spPr>
          <a:xfrm>
            <a:off x="896112" y="2578608"/>
            <a:ext cx="3429000" cy="182880"/>
          </a:xfrm>
          <a:prstGeom prst="rect">
            <a:avLst/>
          </a:prstGeom>
          <a:noFill/>
        </p:spPr>
        <p:txBody>
          <a:bodyPr wrap="square" lIns="0" rIns="0" tIns="0" bIns="0" anchor="t"/>
          <a:lstStyle/>
          <a:p>
            <a:pPr algn="l"/>
            <a:r>
              <a:rPr sz="850" b="0" i="0">
                <a:solidFill>
                  <a:srgbClr val="5F6368"/>
                </a:solidFill>
                <a:latin typeface="Arial"/>
              </a:rPr>
              <a:t>BigQuery ML predicts output tokens, giving the expected Wh</a:t>
            </a:r>
          </a:p>
        </p:txBody>
      </p:sp>
      <p:sp>
        <p:nvSpPr>
          <p:cNvPr id="110" name="Rounded Rectangle 109"/>
          <p:cNvSpPr/>
          <p:nvPr/>
        </p:nvSpPr>
        <p:spPr>
          <a:xfrm>
            <a:off x="4434840" y="2439162"/>
            <a:ext cx="1261872" cy="237744"/>
          </a:xfrm>
          <a:prstGeom prst="roundRect">
            <a:avLst>
              <a:gd name="adj" fmla="val 5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88038"/>
                </a:solidFill>
                <a:latin typeface="Arial"/>
              </a:rPr>
              <a:t>BigQuery ML</a:t>
            </a:r>
          </a:p>
        </p:txBody>
      </p:sp>
      <p:sp>
        <p:nvSpPr>
          <p:cNvPr id="111" name="Rounded Rectangle 110"/>
          <p:cNvSpPr/>
          <p:nvPr/>
        </p:nvSpPr>
        <p:spPr>
          <a:xfrm>
            <a:off x="365760" y="2852928"/>
            <a:ext cx="5440680" cy="470916"/>
          </a:xfrm>
          <a:prstGeom prst="roundRect">
            <a:avLst>
              <a:gd name="adj" fmla="val 12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Oval 111"/>
          <p:cNvSpPr/>
          <p:nvPr/>
        </p:nvSpPr>
        <p:spPr>
          <a:xfrm>
            <a:off x="475488" y="2942082"/>
            <a:ext cx="292608" cy="29260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4</a:t>
            </a:r>
          </a:p>
        </p:txBody>
      </p:sp>
      <p:sp>
        <p:nvSpPr>
          <p:cNvPr id="113" name="TextBox 112"/>
          <p:cNvSpPr txBox="1"/>
          <p:nvPr/>
        </p:nvSpPr>
        <p:spPr>
          <a:xfrm>
            <a:off x="896112" y="2916936"/>
            <a:ext cx="3429000" cy="182880"/>
          </a:xfrm>
          <a:prstGeom prst="rect">
            <a:avLst/>
          </a:prstGeom>
          <a:noFill/>
        </p:spPr>
        <p:txBody>
          <a:bodyPr wrap="square" lIns="0" rIns="0" tIns="0" bIns="0" anchor="t"/>
          <a:lstStyle/>
          <a:p>
            <a:pPr algn="l"/>
            <a:r>
              <a:rPr sz="1050" b="1" i="0">
                <a:solidFill>
                  <a:srgbClr val="202124"/>
                </a:solidFill>
                <a:latin typeface="Arial"/>
              </a:rPr>
              <a:t>Plan region and time</a:t>
            </a:r>
          </a:p>
        </p:txBody>
      </p:sp>
      <p:sp>
        <p:nvSpPr>
          <p:cNvPr id="114" name="TextBox 113"/>
          <p:cNvSpPr txBox="1"/>
          <p:nvPr/>
        </p:nvSpPr>
        <p:spPr>
          <a:xfrm>
            <a:off x="896112" y="3108960"/>
            <a:ext cx="3429000" cy="182880"/>
          </a:xfrm>
          <a:prstGeom prst="rect">
            <a:avLst/>
          </a:prstGeom>
          <a:noFill/>
        </p:spPr>
        <p:txBody>
          <a:bodyPr wrap="square" lIns="0" rIns="0" tIns="0" bIns="0" anchor="t"/>
          <a:lstStyle/>
          <a:p>
            <a:pPr algn="l"/>
            <a:r>
              <a:rPr sz="850" b="0" i="0">
                <a:solidFill>
                  <a:srgbClr val="5F6368"/>
                </a:solidFill>
                <a:latin typeface="Arial"/>
              </a:rPr>
              <a:t>Lowest gCO₂/kWh region, plus the greenest slot if deferrable</a:t>
            </a:r>
          </a:p>
        </p:txBody>
      </p:sp>
      <p:sp>
        <p:nvSpPr>
          <p:cNvPr id="115" name="Rounded Rectangle 114"/>
          <p:cNvSpPr/>
          <p:nvPr/>
        </p:nvSpPr>
        <p:spPr>
          <a:xfrm>
            <a:off x="4434840" y="2969514"/>
            <a:ext cx="1261872" cy="237744"/>
          </a:xfrm>
          <a:prstGeom prst="roundRect">
            <a:avLst>
              <a:gd name="adj" fmla="val 50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A73E8"/>
                </a:solidFill>
                <a:latin typeface="Arial"/>
              </a:rPr>
              <a:t>Cloud Run</a:t>
            </a:r>
          </a:p>
        </p:txBody>
      </p:sp>
      <p:sp>
        <p:nvSpPr>
          <p:cNvPr id="116" name="Rounded Rectangle 115"/>
          <p:cNvSpPr/>
          <p:nvPr/>
        </p:nvSpPr>
        <p:spPr>
          <a:xfrm>
            <a:off x="365760" y="3383280"/>
            <a:ext cx="5440680" cy="470916"/>
          </a:xfrm>
          <a:prstGeom prst="roundRect">
            <a:avLst>
              <a:gd name="adj" fmla="val 12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475488" y="3472434"/>
            <a:ext cx="292608" cy="29260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5</a:t>
            </a:r>
          </a:p>
        </p:txBody>
      </p:sp>
      <p:sp>
        <p:nvSpPr>
          <p:cNvPr id="118" name="TextBox 117"/>
          <p:cNvSpPr txBox="1"/>
          <p:nvPr/>
        </p:nvSpPr>
        <p:spPr>
          <a:xfrm>
            <a:off x="896112" y="3447288"/>
            <a:ext cx="3429000" cy="182880"/>
          </a:xfrm>
          <a:prstGeom prst="rect">
            <a:avLst/>
          </a:prstGeom>
          <a:noFill/>
        </p:spPr>
        <p:txBody>
          <a:bodyPr wrap="square" lIns="0" rIns="0" tIns="0" bIns="0" anchor="t"/>
          <a:lstStyle/>
          <a:p>
            <a:pPr algn="l"/>
            <a:r>
              <a:rPr sz="1050" b="1" i="0">
                <a:solidFill>
                  <a:srgbClr val="202124"/>
                </a:solidFill>
                <a:latin typeface="Arial"/>
              </a:rPr>
              <a:t>Log the plan</a:t>
            </a:r>
          </a:p>
        </p:txBody>
      </p:sp>
      <p:sp>
        <p:nvSpPr>
          <p:cNvPr id="119" name="TextBox 118"/>
          <p:cNvSpPr txBox="1"/>
          <p:nvPr/>
        </p:nvSpPr>
        <p:spPr>
          <a:xfrm>
            <a:off x="896112" y="3639312"/>
            <a:ext cx="3429000" cy="182880"/>
          </a:xfrm>
          <a:prstGeom prst="rect">
            <a:avLst/>
          </a:prstGeom>
          <a:noFill/>
        </p:spPr>
        <p:txBody>
          <a:bodyPr wrap="square" lIns="0" rIns="0" tIns="0" bIns="0" anchor="t"/>
          <a:lstStyle/>
          <a:p>
            <a:pPr algn="l"/>
            <a:r>
              <a:rPr sz="850" b="0" i="0">
                <a:solidFill>
                  <a:srgbClr val="5F6368"/>
                </a:solidFill>
                <a:latin typeface="Arial"/>
              </a:rPr>
              <a:t>requests/{id} written with status running or scheduled</a:t>
            </a:r>
          </a:p>
        </p:txBody>
      </p:sp>
      <p:sp>
        <p:nvSpPr>
          <p:cNvPr id="120" name="Rounded Rectangle 119"/>
          <p:cNvSpPr/>
          <p:nvPr/>
        </p:nvSpPr>
        <p:spPr>
          <a:xfrm>
            <a:off x="4434840" y="3499866"/>
            <a:ext cx="1261872" cy="237744"/>
          </a:xfrm>
          <a:prstGeom prst="roundRect">
            <a:avLst>
              <a:gd name="adj" fmla="val 50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37400"/>
                </a:solidFill>
                <a:latin typeface="Arial"/>
              </a:rPr>
              <a:t>Firestore</a:t>
            </a:r>
          </a:p>
        </p:txBody>
      </p:sp>
      <p:sp>
        <p:nvSpPr>
          <p:cNvPr id="121" name="Rounded Rectangle 120"/>
          <p:cNvSpPr/>
          <p:nvPr/>
        </p:nvSpPr>
        <p:spPr>
          <a:xfrm>
            <a:off x="365760" y="3913632"/>
            <a:ext cx="5440680" cy="470916"/>
          </a:xfrm>
          <a:prstGeom prst="roundRect">
            <a:avLst>
              <a:gd name="adj" fmla="val 12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Oval 121"/>
          <p:cNvSpPr/>
          <p:nvPr/>
        </p:nvSpPr>
        <p:spPr>
          <a:xfrm>
            <a:off x="475488" y="4002786"/>
            <a:ext cx="292608" cy="29260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6</a:t>
            </a:r>
          </a:p>
        </p:txBody>
      </p:sp>
      <p:sp>
        <p:nvSpPr>
          <p:cNvPr id="123" name="TextBox 122"/>
          <p:cNvSpPr txBox="1"/>
          <p:nvPr/>
        </p:nvSpPr>
        <p:spPr>
          <a:xfrm>
            <a:off x="896112" y="3977640"/>
            <a:ext cx="3429000" cy="182880"/>
          </a:xfrm>
          <a:prstGeom prst="rect">
            <a:avLst/>
          </a:prstGeom>
          <a:noFill/>
        </p:spPr>
        <p:txBody>
          <a:bodyPr wrap="square" lIns="0" rIns="0" tIns="0" bIns="0" anchor="t"/>
          <a:lstStyle/>
          <a:p>
            <a:pPr algn="l"/>
            <a:r>
              <a:rPr sz="1050" b="1" i="0">
                <a:solidFill>
                  <a:srgbClr val="202124"/>
                </a:solidFill>
                <a:latin typeface="Arial"/>
              </a:rPr>
              <a:t>Execute on Gemini</a:t>
            </a:r>
          </a:p>
        </p:txBody>
      </p:sp>
      <p:sp>
        <p:nvSpPr>
          <p:cNvPr id="124" name="TextBox 123"/>
          <p:cNvSpPr txBox="1"/>
          <p:nvPr/>
        </p:nvSpPr>
        <p:spPr>
          <a:xfrm>
            <a:off x="896112" y="4169664"/>
            <a:ext cx="3429000" cy="182880"/>
          </a:xfrm>
          <a:prstGeom prst="rect">
            <a:avLst/>
          </a:prstGeom>
          <a:noFill/>
        </p:spPr>
        <p:txBody>
          <a:bodyPr wrap="square" lIns="0" rIns="0" tIns="0" bIns="0" anchor="t"/>
          <a:lstStyle/>
          <a:p>
            <a:pPr algn="l"/>
            <a:r>
              <a:rPr sz="850" b="0" i="0">
                <a:solidFill>
                  <a:srgbClr val="5F6368"/>
                </a:solidFill>
                <a:latin typeface="Arial"/>
              </a:rPr>
              <a:t>Greenest region that serves the model, with a fallback chain</a:t>
            </a:r>
          </a:p>
        </p:txBody>
      </p:sp>
      <p:sp>
        <p:nvSpPr>
          <p:cNvPr id="125" name="Rounded Rectangle 124"/>
          <p:cNvSpPr/>
          <p:nvPr/>
        </p:nvSpPr>
        <p:spPr>
          <a:xfrm>
            <a:off x="4434840" y="4030218"/>
            <a:ext cx="1261872" cy="237744"/>
          </a:xfrm>
          <a:prstGeom prst="roundRect">
            <a:avLst>
              <a:gd name="adj" fmla="val 50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1A73E8"/>
                </a:solidFill>
                <a:latin typeface="Arial"/>
              </a:rPr>
              <a:t>Gemini · Vertex AI</a:t>
            </a:r>
          </a:p>
        </p:txBody>
      </p:sp>
      <p:sp>
        <p:nvSpPr>
          <p:cNvPr id="126" name="Rounded Rectangle 125"/>
          <p:cNvSpPr/>
          <p:nvPr/>
        </p:nvSpPr>
        <p:spPr>
          <a:xfrm>
            <a:off x="365760" y="4443984"/>
            <a:ext cx="5440680" cy="470916"/>
          </a:xfrm>
          <a:prstGeom prst="roundRect">
            <a:avLst>
              <a:gd name="adj" fmla="val 12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Oval 126"/>
          <p:cNvSpPr/>
          <p:nvPr/>
        </p:nvSpPr>
        <p:spPr>
          <a:xfrm>
            <a:off x="475488" y="4533138"/>
            <a:ext cx="292608" cy="29260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7</a:t>
            </a:r>
          </a:p>
        </p:txBody>
      </p:sp>
      <p:sp>
        <p:nvSpPr>
          <p:cNvPr id="128" name="TextBox 127"/>
          <p:cNvSpPr txBox="1"/>
          <p:nvPr/>
        </p:nvSpPr>
        <p:spPr>
          <a:xfrm>
            <a:off x="896112" y="4507992"/>
            <a:ext cx="3429000" cy="182880"/>
          </a:xfrm>
          <a:prstGeom prst="rect">
            <a:avLst/>
          </a:prstGeom>
          <a:noFill/>
        </p:spPr>
        <p:txBody>
          <a:bodyPr wrap="square" lIns="0" rIns="0" tIns="0" bIns="0" anchor="t"/>
          <a:lstStyle/>
          <a:p>
            <a:pPr algn="l"/>
            <a:r>
              <a:rPr sz="1050" b="1" i="0">
                <a:solidFill>
                  <a:srgbClr val="202124"/>
                </a:solidFill>
                <a:latin typeface="Arial"/>
              </a:rPr>
              <a:t>Account and stream</a:t>
            </a:r>
          </a:p>
        </p:txBody>
      </p:sp>
      <p:sp>
        <p:nvSpPr>
          <p:cNvPr id="129" name="TextBox 128"/>
          <p:cNvSpPr txBox="1"/>
          <p:nvPr/>
        </p:nvSpPr>
        <p:spPr>
          <a:xfrm>
            <a:off x="896112" y="4700016"/>
            <a:ext cx="3429000" cy="182880"/>
          </a:xfrm>
          <a:prstGeom prst="rect">
            <a:avLst/>
          </a:prstGeom>
          <a:noFill/>
        </p:spPr>
        <p:txBody>
          <a:bodyPr wrap="square" lIns="0" rIns="0" tIns="0" bIns="0" anchor="t"/>
          <a:lstStyle/>
          <a:p>
            <a:pPr algn="l"/>
            <a:r>
              <a:rPr sz="850" b="0" i="0">
                <a:solidFill>
                  <a:srgbClr val="5F6368"/>
                </a:solidFill>
                <a:latin typeface="Arial"/>
              </a:rPr>
              <a:t>Real tokens → Wh → g CO₂ vs baseline; dashboard updates live</a:t>
            </a:r>
          </a:p>
        </p:txBody>
      </p:sp>
      <p:sp>
        <p:nvSpPr>
          <p:cNvPr id="130" name="Rounded Rectangle 129"/>
          <p:cNvSpPr/>
          <p:nvPr/>
        </p:nvSpPr>
        <p:spPr>
          <a:xfrm>
            <a:off x="4434840" y="4560570"/>
            <a:ext cx="1261872" cy="237744"/>
          </a:xfrm>
          <a:prstGeom prst="roundRect">
            <a:avLst>
              <a:gd name="adj" fmla="val 50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37400"/>
                </a:solidFill>
                <a:latin typeface="Arial"/>
              </a:rPr>
              <a:t>Firestore</a:t>
            </a:r>
          </a:p>
        </p:txBody>
      </p:sp>
      <p:sp>
        <p:nvSpPr>
          <p:cNvPr id="131" name="Rounded Rectangle 130"/>
          <p:cNvSpPr/>
          <p:nvPr/>
        </p:nvSpPr>
        <p:spPr>
          <a:xfrm>
            <a:off x="6035040" y="1261872"/>
            <a:ext cx="2743200" cy="3653028"/>
          </a:xfrm>
          <a:prstGeom prst="roundRect">
            <a:avLst>
              <a:gd name="adj" fmla="val 4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6199632" y="1371600"/>
            <a:ext cx="2468880" cy="228600"/>
          </a:xfrm>
          <a:prstGeom prst="rect">
            <a:avLst/>
          </a:prstGeom>
          <a:noFill/>
        </p:spPr>
        <p:txBody>
          <a:bodyPr wrap="square" lIns="0" rIns="0" tIns="0" bIns="0" anchor="t"/>
          <a:lstStyle/>
          <a:p>
            <a:pPr algn="l"/>
            <a:r>
              <a:rPr sz="1100" b="1" i="0">
                <a:solidFill>
                  <a:srgbClr val="E37400"/>
                </a:solidFill>
                <a:latin typeface="Arial"/>
              </a:rPr>
              <a:t>Deferred (batch) path</a:t>
            </a:r>
          </a:p>
        </p:txBody>
      </p:sp>
      <p:sp>
        <p:nvSpPr>
          <p:cNvPr id="133" name="Rounded Rectangle 132"/>
          <p:cNvSpPr/>
          <p:nvPr/>
        </p:nvSpPr>
        <p:spPr>
          <a:xfrm>
            <a:off x="6217920" y="1700784"/>
            <a:ext cx="2377440" cy="475488"/>
          </a:xfrm>
          <a:prstGeom prst="roundRect">
            <a:avLst>
              <a:gd name="adj" fmla="val 12000"/>
            </a:avLst>
          </a:prstGeom>
          <a:solidFill>
            <a:srgbClr val="FFFFFF"/>
          </a:solidFill>
          <a:ln w="9525">
            <a:solidFill>
              <a:srgbClr val="E374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6309360" y="1755648"/>
            <a:ext cx="2194560" cy="384048"/>
          </a:xfrm>
          <a:prstGeom prst="rect">
            <a:avLst/>
          </a:prstGeom>
          <a:noFill/>
        </p:spPr>
        <p:txBody>
          <a:bodyPr wrap="square" lIns="0" rIns="0" tIns="0" bIns="0" anchor="t"/>
          <a:lstStyle/>
          <a:p>
            <a:pPr algn="ctr"/>
            <a:r>
              <a:rPr sz="950" b="1" i="0">
                <a:solidFill>
                  <a:srgbClr val="202124"/>
                </a:solidFill>
                <a:latin typeface="Arial"/>
              </a:rPr>
              <a:t>Step 4: deferrable = true</a:t>
            </a:r>
          </a:p>
          <a:p>
            <a:pPr algn="ctr"/>
            <a:r>
              <a:rPr sz="850" b="0" i="0">
                <a:solidFill>
                  <a:srgbClr val="5F6368"/>
                </a:solidFill>
                <a:latin typeface="Arial"/>
              </a:rPr>
              <a:t>best slot chosen before deadline</a:t>
            </a:r>
          </a:p>
        </p:txBody>
      </p:sp>
      <p:cxnSp>
        <p:nvCxnSpPr>
          <p:cNvPr id="135" name="Connector 134"/>
          <p:cNvCxnSpPr/>
          <p:nvPr/>
        </p:nvCxnSpPr>
        <p:spPr>
          <a:xfrm>
            <a:off x="7406640" y="2176272"/>
            <a:ext cx="0" cy="210312"/>
          </a:xfrm>
          <a:prstGeom prst="line">
            <a:avLst/>
          </a:prstGeom>
          <a:ln w="19050">
            <a:solidFill>
              <a:srgbClr val="E37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 name="Rounded Rectangle 135"/>
          <p:cNvSpPr/>
          <p:nvPr/>
        </p:nvSpPr>
        <p:spPr>
          <a:xfrm>
            <a:off x="6217920" y="2386584"/>
            <a:ext cx="2377440" cy="475488"/>
          </a:xfrm>
          <a:prstGeom prst="roundRect">
            <a:avLst>
              <a:gd name="adj" fmla="val 12000"/>
            </a:avLst>
          </a:prstGeom>
          <a:solidFill>
            <a:srgbClr val="FFFFFF"/>
          </a:solidFill>
          <a:ln w="9525">
            <a:solidFill>
              <a:srgbClr val="E374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6309360" y="2441448"/>
            <a:ext cx="2194560" cy="384048"/>
          </a:xfrm>
          <a:prstGeom prst="rect">
            <a:avLst/>
          </a:prstGeom>
          <a:noFill/>
        </p:spPr>
        <p:txBody>
          <a:bodyPr wrap="square" lIns="0" rIns="0" tIns="0" bIns="0" anchor="t"/>
          <a:lstStyle/>
          <a:p>
            <a:pPr algn="ctr"/>
            <a:r>
              <a:rPr sz="950" b="1" i="0">
                <a:solidFill>
                  <a:srgbClr val="202124"/>
                </a:solidFill>
                <a:latin typeface="Arial"/>
              </a:rPr>
              <a:t>Pub/Sub topic</a:t>
            </a:r>
          </a:p>
          <a:p>
            <a:pPr algn="ctr"/>
            <a:r>
              <a:rPr sz="850" b="0" i="0">
                <a:solidFill>
                  <a:srgbClr val="5F6368"/>
                </a:solidFill>
                <a:latin typeface="Arial"/>
              </a:rPr>
              <a:t>greenroute-jobs</a:t>
            </a:r>
          </a:p>
        </p:txBody>
      </p:sp>
      <p:cxnSp>
        <p:nvCxnSpPr>
          <p:cNvPr id="138" name="Connector 137"/>
          <p:cNvCxnSpPr/>
          <p:nvPr/>
        </p:nvCxnSpPr>
        <p:spPr>
          <a:xfrm>
            <a:off x="7406640" y="2862072"/>
            <a:ext cx="0" cy="210312"/>
          </a:xfrm>
          <a:prstGeom prst="line">
            <a:avLst/>
          </a:prstGeom>
          <a:ln w="19050">
            <a:solidFill>
              <a:srgbClr val="E37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 name="Rounded Rectangle 138"/>
          <p:cNvSpPr/>
          <p:nvPr/>
        </p:nvSpPr>
        <p:spPr>
          <a:xfrm>
            <a:off x="6217920" y="3072384"/>
            <a:ext cx="2377440" cy="475488"/>
          </a:xfrm>
          <a:prstGeom prst="roundRect">
            <a:avLst>
              <a:gd name="adj" fmla="val 12000"/>
            </a:avLst>
          </a:prstGeom>
          <a:solidFill>
            <a:srgbClr val="FFFFFF"/>
          </a:solidFill>
          <a:ln w="9525">
            <a:solidFill>
              <a:srgbClr val="E374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6309360" y="3127248"/>
            <a:ext cx="2194560" cy="384048"/>
          </a:xfrm>
          <a:prstGeom prst="rect">
            <a:avLst/>
          </a:prstGeom>
          <a:noFill/>
        </p:spPr>
        <p:txBody>
          <a:bodyPr wrap="square" lIns="0" rIns="0" tIns="0" bIns="0" anchor="t"/>
          <a:lstStyle/>
          <a:p>
            <a:pPr algn="ctr"/>
            <a:r>
              <a:rPr sz="950" b="1" i="0">
                <a:solidFill>
                  <a:srgbClr val="202124"/>
                </a:solidFill>
                <a:latin typeface="Arial"/>
              </a:rPr>
              <a:t>Push subscription</a:t>
            </a:r>
          </a:p>
          <a:p>
            <a:pPr algn="ctr"/>
            <a:r>
              <a:rPr sz="850" b="0" i="0">
                <a:solidFill>
                  <a:srgbClr val="5F6368"/>
                </a:solidFill>
                <a:latin typeface="Arial"/>
              </a:rPr>
              <a:t>→ Cloud Run /api/worker</a:t>
            </a:r>
          </a:p>
        </p:txBody>
      </p:sp>
      <p:cxnSp>
        <p:nvCxnSpPr>
          <p:cNvPr id="141" name="Connector 140"/>
          <p:cNvCxnSpPr/>
          <p:nvPr/>
        </p:nvCxnSpPr>
        <p:spPr>
          <a:xfrm>
            <a:off x="7406640" y="3547872"/>
            <a:ext cx="0" cy="210312"/>
          </a:xfrm>
          <a:prstGeom prst="line">
            <a:avLst/>
          </a:prstGeom>
          <a:ln w="19050">
            <a:solidFill>
              <a:srgbClr val="E37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2" name="Rounded Rectangle 141"/>
          <p:cNvSpPr/>
          <p:nvPr/>
        </p:nvSpPr>
        <p:spPr>
          <a:xfrm>
            <a:off x="6217920" y="3758184"/>
            <a:ext cx="2377440" cy="475488"/>
          </a:xfrm>
          <a:prstGeom prst="roundRect">
            <a:avLst>
              <a:gd name="adj" fmla="val 12000"/>
            </a:avLst>
          </a:prstGeom>
          <a:solidFill>
            <a:srgbClr val="FFFFFF"/>
          </a:solidFill>
          <a:ln w="9525">
            <a:solidFill>
              <a:srgbClr val="E374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6309360" y="3813048"/>
            <a:ext cx="2194560" cy="384048"/>
          </a:xfrm>
          <a:prstGeom prst="rect">
            <a:avLst/>
          </a:prstGeom>
          <a:noFill/>
        </p:spPr>
        <p:txBody>
          <a:bodyPr wrap="square" lIns="0" rIns="0" tIns="0" bIns="0" anchor="t"/>
          <a:lstStyle/>
          <a:p>
            <a:pPr algn="ctr"/>
            <a:r>
              <a:rPr sz="950" b="1" i="0">
                <a:solidFill>
                  <a:srgbClr val="202124"/>
                </a:solidFill>
                <a:latin typeface="Arial"/>
              </a:rPr>
              <a:t>Steps 6–7 run</a:t>
            </a:r>
          </a:p>
          <a:p>
            <a:pPr algn="ctr"/>
            <a:r>
              <a:rPr sz="850" b="0" i="0">
                <a:solidFill>
                  <a:srgbClr val="5F6368"/>
                </a:solidFill>
                <a:latin typeface="Arial"/>
              </a:rPr>
              <a:t>same execute() as live path</a:t>
            </a:r>
          </a:p>
        </p:txBody>
      </p:sp>
      <p:sp>
        <p:nvSpPr>
          <p:cNvPr id="144" name="TextBox 143"/>
          <p:cNvSpPr txBox="1"/>
          <p:nvPr/>
        </p:nvSpPr>
        <p:spPr>
          <a:xfrm>
            <a:off x="6217920" y="4498848"/>
            <a:ext cx="2377440" cy="384048"/>
          </a:xfrm>
          <a:prstGeom prst="rect">
            <a:avLst/>
          </a:prstGeom>
          <a:noFill/>
        </p:spPr>
        <p:txBody>
          <a:bodyPr wrap="square" lIns="0" rIns="0" tIns="0" bIns="0" anchor="t"/>
          <a:lstStyle/>
          <a:p>
            <a:pPr algn="l"/>
            <a:r>
              <a:rPr sz="850" b="0" i="0">
                <a:solidFill>
                  <a:srgbClr val="202124"/>
                </a:solidFill>
                <a:latin typeface="Arial"/>
              </a:rPr>
              <a:t>The browser waits on Firestore onSnapshot and flips to “done” the moment the worker finishes.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pic>
        <p:nvPicPr>
          <p:cNvPr id="104" name="Picture 103" descr="app_full.png"/>
          <p:cNvPicPr>
            <a:picLocks noChangeAspect="1"/>
          </p:cNvPicPr>
          <p:nvPr/>
        </p:nvPicPr>
        <p:blipFill>
          <a:blip r:embed="rId5"/>
          <a:stretch>
            <a:fillRect/>
          </a:stretch>
        </p:blipFill>
        <p:spPr>
          <a:xfrm>
            <a:off x="365760" y="1261872"/>
            <a:ext cx="2234786" cy="3657600"/>
          </a:xfrm>
          <a:prstGeom prst="rect">
            <a:avLst/>
          </a:prstGeom>
          <a:ln w="9525">
            <a:solidFill>
              <a:srgbClr val="DADCE0"/>
            </a:solidFill>
          </a:ln>
        </p:spPr>
      </p:pic>
      <p:sp>
        <p:nvSpPr>
          <p:cNvPr id="105" name="Oval 104"/>
          <p:cNvSpPr/>
          <p:nvPr/>
        </p:nvSpPr>
        <p:spPr>
          <a:xfrm>
            <a:off x="544542" y="1737360"/>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1</a:t>
            </a:r>
          </a:p>
        </p:txBody>
      </p:sp>
      <p:sp>
        <p:nvSpPr>
          <p:cNvPr id="106" name="Oval 105"/>
          <p:cNvSpPr/>
          <p:nvPr/>
        </p:nvSpPr>
        <p:spPr>
          <a:xfrm>
            <a:off x="544542" y="2304287"/>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2</a:t>
            </a:r>
          </a:p>
        </p:txBody>
      </p:sp>
      <p:sp>
        <p:nvSpPr>
          <p:cNvPr id="107" name="Oval 106"/>
          <p:cNvSpPr/>
          <p:nvPr/>
        </p:nvSpPr>
        <p:spPr>
          <a:xfrm>
            <a:off x="544542" y="2578608"/>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3</a:t>
            </a:r>
          </a:p>
        </p:txBody>
      </p:sp>
      <p:sp>
        <p:nvSpPr>
          <p:cNvPr id="108" name="Oval 107"/>
          <p:cNvSpPr/>
          <p:nvPr/>
        </p:nvSpPr>
        <p:spPr>
          <a:xfrm>
            <a:off x="1706631" y="2578608"/>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4</a:t>
            </a:r>
          </a:p>
        </p:txBody>
      </p:sp>
      <p:sp>
        <p:nvSpPr>
          <p:cNvPr id="109" name="Oval 108"/>
          <p:cNvSpPr/>
          <p:nvPr/>
        </p:nvSpPr>
        <p:spPr>
          <a:xfrm>
            <a:off x="544542" y="3328415"/>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5</a:t>
            </a:r>
          </a:p>
        </p:txBody>
      </p:sp>
      <p:sp>
        <p:nvSpPr>
          <p:cNvPr id="110" name="Oval 109"/>
          <p:cNvSpPr/>
          <p:nvPr/>
        </p:nvSpPr>
        <p:spPr>
          <a:xfrm>
            <a:off x="1550196" y="3328415"/>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6</a:t>
            </a:r>
          </a:p>
        </p:txBody>
      </p:sp>
      <p:sp>
        <p:nvSpPr>
          <p:cNvPr id="111" name="Oval 110"/>
          <p:cNvSpPr/>
          <p:nvPr/>
        </p:nvSpPr>
        <p:spPr>
          <a:xfrm>
            <a:off x="544542" y="4078224"/>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7</a:t>
            </a:r>
          </a:p>
        </p:txBody>
      </p:sp>
      <p:sp>
        <p:nvSpPr>
          <p:cNvPr id="112" name="Oval 111"/>
          <p:cNvSpPr/>
          <p:nvPr/>
        </p:nvSpPr>
        <p:spPr>
          <a:xfrm>
            <a:off x="1706631" y="4078224"/>
            <a:ext cx="219456" cy="21945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Arial"/>
              </a:rPr>
              <a:t>8</a:t>
            </a:r>
          </a:p>
        </p:txBody>
      </p:sp>
      <p:sp>
        <p:nvSpPr>
          <p:cNvPr id="113" name="TextBox 112"/>
          <p:cNvSpPr txBox="1"/>
          <p:nvPr/>
        </p:nvSpPr>
        <p:spPr>
          <a:xfrm>
            <a:off x="2926080" y="1261872"/>
            <a:ext cx="5852160" cy="274320"/>
          </a:xfrm>
          <a:prstGeom prst="rect">
            <a:avLst/>
          </a:prstGeom>
          <a:noFill/>
        </p:spPr>
        <p:txBody>
          <a:bodyPr wrap="square" lIns="0" rIns="0" tIns="0" bIns="0" anchor="t"/>
          <a:lstStyle/>
          <a:p>
            <a:pPr algn="l"/>
            <a:r>
              <a:rPr sz="1300" b="1" i="0">
                <a:solidFill>
                  <a:srgbClr val="202124"/>
                </a:solidFill>
                <a:latin typeface="Arial"/>
              </a:rPr>
              <a:t>One-page dashboard, live on Firebase Hosting</a:t>
            </a:r>
          </a:p>
        </p:txBody>
      </p:sp>
      <p:sp>
        <p:nvSpPr>
          <p:cNvPr id="114" name="TextBox 113"/>
          <p:cNvSpPr txBox="1"/>
          <p:nvPr/>
        </p:nvSpPr>
        <p:spPr>
          <a:xfrm>
            <a:off x="2926080" y="1554480"/>
            <a:ext cx="5852160" cy="228600"/>
          </a:xfrm>
          <a:prstGeom prst="rect">
            <a:avLst/>
          </a:prstGeom>
          <a:noFill/>
        </p:spPr>
        <p:txBody>
          <a:bodyPr wrap="square" lIns="0" rIns="0" tIns="0" bIns="0" anchor="t"/>
          <a:lstStyle/>
          <a:p>
            <a:pPr algn="l"/>
            <a:r>
              <a:rPr sz="950" b="0" i="0">
                <a:solidFill>
                  <a:srgbClr val="5F6368"/>
                </a:solidFill>
                <a:latin typeface="Arial"/>
              </a:rPr>
              <a:t>Dark UI built for a live demo: every panel is backed by a real Google Cloud service.</a:t>
            </a:r>
          </a:p>
        </p:txBody>
      </p:sp>
      <p:sp>
        <p:nvSpPr>
          <p:cNvPr id="115" name="Rounded Rectangle 114"/>
          <p:cNvSpPr/>
          <p:nvPr/>
        </p:nvSpPr>
        <p:spPr>
          <a:xfrm>
            <a:off x="2926080" y="1965960"/>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Oval 115"/>
          <p:cNvSpPr/>
          <p:nvPr/>
        </p:nvSpPr>
        <p:spPr>
          <a:xfrm>
            <a:off x="3035808" y="2148840"/>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1</a:t>
            </a:r>
          </a:p>
        </p:txBody>
      </p:sp>
      <p:sp>
        <p:nvSpPr>
          <p:cNvPr id="117" name="TextBox 116"/>
          <p:cNvSpPr txBox="1"/>
          <p:nvPr/>
        </p:nvSpPr>
        <p:spPr>
          <a:xfrm>
            <a:off x="3429000" y="2039112"/>
            <a:ext cx="2240280" cy="201168"/>
          </a:xfrm>
          <a:prstGeom prst="rect">
            <a:avLst/>
          </a:prstGeom>
          <a:noFill/>
        </p:spPr>
        <p:txBody>
          <a:bodyPr wrap="square" lIns="0" rIns="0" tIns="0" bIns="0" anchor="t"/>
          <a:lstStyle/>
          <a:p>
            <a:pPr algn="l"/>
            <a:r>
              <a:rPr sz="1050" b="1" i="0">
                <a:solidFill>
                  <a:srgbClr val="202124"/>
                </a:solidFill>
                <a:latin typeface="Arial"/>
              </a:rPr>
              <a:t>Hero</a:t>
            </a:r>
          </a:p>
        </p:txBody>
      </p:sp>
      <p:sp>
        <p:nvSpPr>
          <p:cNvPr id="118" name="TextBox 117"/>
          <p:cNvSpPr txBox="1"/>
          <p:nvPr/>
        </p:nvSpPr>
        <p:spPr>
          <a:xfrm>
            <a:off x="3429000" y="2240279"/>
            <a:ext cx="2240280" cy="347472"/>
          </a:xfrm>
          <a:prstGeom prst="rect">
            <a:avLst/>
          </a:prstGeom>
          <a:noFill/>
        </p:spPr>
        <p:txBody>
          <a:bodyPr wrap="square" lIns="0" rIns="0" tIns="0" bIns="0" anchor="t"/>
          <a:lstStyle/>
          <a:p>
            <a:pPr algn="l"/>
            <a:r>
              <a:rPr sz="850" b="0" i="0">
                <a:solidFill>
                  <a:srgbClr val="5F6368"/>
                </a:solidFill>
                <a:latin typeface="Arial"/>
              </a:rPr>
              <a:t>Value proposition: which, where and when, with the grid globe.</a:t>
            </a:r>
          </a:p>
        </p:txBody>
      </p:sp>
      <p:sp>
        <p:nvSpPr>
          <p:cNvPr id="119" name="Rounded Rectangle 118"/>
          <p:cNvSpPr/>
          <p:nvPr/>
        </p:nvSpPr>
        <p:spPr>
          <a:xfrm>
            <a:off x="5897880" y="1965960"/>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Oval 119"/>
          <p:cNvSpPr/>
          <p:nvPr/>
        </p:nvSpPr>
        <p:spPr>
          <a:xfrm>
            <a:off x="6007608" y="2148840"/>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2</a:t>
            </a:r>
          </a:p>
        </p:txBody>
      </p:sp>
      <p:sp>
        <p:nvSpPr>
          <p:cNvPr id="121" name="TextBox 120"/>
          <p:cNvSpPr txBox="1"/>
          <p:nvPr/>
        </p:nvSpPr>
        <p:spPr>
          <a:xfrm>
            <a:off x="6400800" y="2039112"/>
            <a:ext cx="2240280" cy="201168"/>
          </a:xfrm>
          <a:prstGeom prst="rect">
            <a:avLst/>
          </a:prstGeom>
          <a:noFill/>
        </p:spPr>
        <p:txBody>
          <a:bodyPr wrap="square" lIns="0" rIns="0" tIns="0" bIns="0" anchor="t"/>
          <a:lstStyle/>
          <a:p>
            <a:pPr algn="l"/>
            <a:r>
              <a:rPr sz="1050" b="1" i="0">
                <a:solidFill>
                  <a:srgbClr val="202124"/>
                </a:solidFill>
                <a:latin typeface="Arial"/>
              </a:rPr>
              <a:t>Live KPIs</a:t>
            </a:r>
          </a:p>
        </p:txBody>
      </p:sp>
      <p:sp>
        <p:nvSpPr>
          <p:cNvPr id="122" name="TextBox 121"/>
          <p:cNvSpPr txBox="1"/>
          <p:nvPr/>
        </p:nvSpPr>
        <p:spPr>
          <a:xfrm>
            <a:off x="6400800" y="2240279"/>
            <a:ext cx="2240280" cy="347472"/>
          </a:xfrm>
          <a:prstGeom prst="rect">
            <a:avLst/>
          </a:prstGeom>
          <a:noFill/>
        </p:spPr>
        <p:txBody>
          <a:bodyPr wrap="square" lIns="0" rIns="0" tIns="0" bIns="0" anchor="t"/>
          <a:lstStyle/>
          <a:p>
            <a:pPr algn="l"/>
            <a:r>
              <a:rPr sz="850" b="0" i="0">
                <a:solidFill>
                  <a:srgbClr val="5F6368"/>
                </a:solidFill>
                <a:latin typeface="Arial"/>
              </a:rPr>
              <a:t>Requests, CO₂ saved, % reduction and Wh, streamed from Firestore.</a:t>
            </a:r>
          </a:p>
        </p:txBody>
      </p:sp>
      <p:sp>
        <p:nvSpPr>
          <p:cNvPr id="123" name="Rounded Rectangle 122"/>
          <p:cNvSpPr/>
          <p:nvPr/>
        </p:nvSpPr>
        <p:spPr>
          <a:xfrm>
            <a:off x="2926080" y="2715768"/>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Oval 123"/>
          <p:cNvSpPr/>
          <p:nvPr/>
        </p:nvSpPr>
        <p:spPr>
          <a:xfrm>
            <a:off x="3035808" y="2898648"/>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3</a:t>
            </a:r>
          </a:p>
        </p:txBody>
      </p:sp>
      <p:sp>
        <p:nvSpPr>
          <p:cNvPr id="125" name="TextBox 124"/>
          <p:cNvSpPr txBox="1"/>
          <p:nvPr/>
        </p:nvSpPr>
        <p:spPr>
          <a:xfrm>
            <a:off x="3429000" y="2788920"/>
            <a:ext cx="2240280" cy="201168"/>
          </a:xfrm>
          <a:prstGeom prst="rect">
            <a:avLst/>
          </a:prstGeom>
          <a:noFill/>
        </p:spPr>
        <p:txBody>
          <a:bodyPr wrap="square" lIns="0" rIns="0" tIns="0" bIns="0" anchor="t"/>
          <a:lstStyle/>
          <a:p>
            <a:pPr algn="l"/>
            <a:r>
              <a:rPr sz="1050" b="1" i="0">
                <a:solidFill>
                  <a:srgbClr val="202124"/>
                </a:solidFill>
                <a:latin typeface="Arial"/>
              </a:rPr>
              <a:t>Router</a:t>
            </a:r>
          </a:p>
        </p:txBody>
      </p:sp>
      <p:sp>
        <p:nvSpPr>
          <p:cNvPr id="126" name="TextBox 125"/>
          <p:cNvSpPr txBox="1"/>
          <p:nvPr/>
        </p:nvSpPr>
        <p:spPr>
          <a:xfrm>
            <a:off x="3429000" y="2990087"/>
            <a:ext cx="2240280" cy="347472"/>
          </a:xfrm>
          <a:prstGeom prst="rect">
            <a:avLst/>
          </a:prstGeom>
          <a:noFill/>
        </p:spPr>
        <p:txBody>
          <a:bodyPr wrap="square" lIns="0" rIns="0" tIns="0" bIns="0" anchor="t"/>
          <a:lstStyle/>
          <a:p>
            <a:pPr algn="l"/>
            <a:r>
              <a:rPr sz="850" b="0" i="0">
                <a:solidFill>
                  <a:srgbClr val="5F6368"/>
                </a:solidFill>
                <a:latin typeface="Arial"/>
              </a:rPr>
              <a:t>Prompt, presets, deferrable + deadline, residency, image upload.</a:t>
            </a:r>
          </a:p>
        </p:txBody>
      </p:sp>
      <p:sp>
        <p:nvSpPr>
          <p:cNvPr id="127" name="Rounded Rectangle 126"/>
          <p:cNvSpPr/>
          <p:nvPr/>
        </p:nvSpPr>
        <p:spPr>
          <a:xfrm>
            <a:off x="5897880" y="2715768"/>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Oval 127"/>
          <p:cNvSpPr/>
          <p:nvPr/>
        </p:nvSpPr>
        <p:spPr>
          <a:xfrm>
            <a:off x="6007608" y="2898648"/>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4</a:t>
            </a:r>
          </a:p>
        </p:txBody>
      </p:sp>
      <p:sp>
        <p:nvSpPr>
          <p:cNvPr id="129" name="TextBox 128"/>
          <p:cNvSpPr txBox="1"/>
          <p:nvPr/>
        </p:nvSpPr>
        <p:spPr>
          <a:xfrm>
            <a:off x="6400800" y="2788920"/>
            <a:ext cx="2240280" cy="201168"/>
          </a:xfrm>
          <a:prstGeom prst="rect">
            <a:avLst/>
          </a:prstGeom>
          <a:noFill/>
        </p:spPr>
        <p:txBody>
          <a:bodyPr wrap="square" lIns="0" rIns="0" tIns="0" bIns="0" anchor="t"/>
          <a:lstStyle/>
          <a:p>
            <a:pPr algn="l"/>
            <a:r>
              <a:rPr sz="1050" b="1" i="0">
                <a:solidFill>
                  <a:srgbClr val="202124"/>
                </a:solidFill>
                <a:latin typeface="Arial"/>
              </a:rPr>
              <a:t>Grid carbon chart</a:t>
            </a:r>
          </a:p>
        </p:txBody>
      </p:sp>
      <p:sp>
        <p:nvSpPr>
          <p:cNvPr id="130" name="TextBox 129"/>
          <p:cNvSpPr txBox="1"/>
          <p:nvPr/>
        </p:nvSpPr>
        <p:spPr>
          <a:xfrm>
            <a:off x="6400800" y="2990087"/>
            <a:ext cx="2240280" cy="347472"/>
          </a:xfrm>
          <a:prstGeom prst="rect">
            <a:avLst/>
          </a:prstGeom>
          <a:noFill/>
        </p:spPr>
        <p:txBody>
          <a:bodyPr wrap="square" lIns="0" rIns="0" tIns="0" bIns="0" anchor="t"/>
          <a:lstStyle/>
          <a:p>
            <a:pPr algn="l"/>
            <a:r>
              <a:rPr sz="850" b="0" i="0">
                <a:solidFill>
                  <a:srgbClr val="5F6368"/>
                </a:solidFill>
                <a:latin typeface="Arial"/>
              </a:rPr>
              <a:t>gCO₂/kWh by region right now; hourly shape modelled.</a:t>
            </a:r>
          </a:p>
        </p:txBody>
      </p:sp>
      <p:sp>
        <p:nvSpPr>
          <p:cNvPr id="131" name="Rounded Rectangle 130"/>
          <p:cNvSpPr/>
          <p:nvPr/>
        </p:nvSpPr>
        <p:spPr>
          <a:xfrm>
            <a:off x="2926080" y="3465576"/>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Oval 131"/>
          <p:cNvSpPr/>
          <p:nvPr/>
        </p:nvSpPr>
        <p:spPr>
          <a:xfrm>
            <a:off x="3035808" y="3648456"/>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5</a:t>
            </a:r>
          </a:p>
        </p:txBody>
      </p:sp>
      <p:sp>
        <p:nvSpPr>
          <p:cNvPr id="133" name="TextBox 132"/>
          <p:cNvSpPr txBox="1"/>
          <p:nvPr/>
        </p:nvSpPr>
        <p:spPr>
          <a:xfrm>
            <a:off x="3429000" y="3538728"/>
            <a:ext cx="2240280" cy="201168"/>
          </a:xfrm>
          <a:prstGeom prst="rect">
            <a:avLst/>
          </a:prstGeom>
          <a:noFill/>
        </p:spPr>
        <p:txBody>
          <a:bodyPr wrap="square" lIns="0" rIns="0" tIns="0" bIns="0" anchor="t"/>
          <a:lstStyle/>
          <a:p>
            <a:pPr algn="l"/>
            <a:r>
              <a:rPr sz="1050" b="1" i="0">
                <a:solidFill>
                  <a:srgbClr val="202124"/>
                </a:solidFill>
                <a:latin typeface="Arial"/>
              </a:rPr>
              <a:t>Fleet replay</a:t>
            </a:r>
          </a:p>
        </p:txBody>
      </p:sp>
      <p:sp>
        <p:nvSpPr>
          <p:cNvPr id="134" name="TextBox 133"/>
          <p:cNvSpPr txBox="1"/>
          <p:nvPr/>
        </p:nvSpPr>
        <p:spPr>
          <a:xfrm>
            <a:off x="3429000" y="3739896"/>
            <a:ext cx="2240280" cy="347472"/>
          </a:xfrm>
          <a:prstGeom prst="rect">
            <a:avLst/>
          </a:prstGeom>
          <a:noFill/>
        </p:spPr>
        <p:txBody>
          <a:bodyPr wrap="square" lIns="0" rIns="0" tIns="0" bIns="0" anchor="t"/>
          <a:lstStyle/>
          <a:p>
            <a:pPr algn="l"/>
            <a:r>
              <a:rPr sz="850" b="0" i="0">
                <a:solidFill>
                  <a:srgbClr val="5F6368"/>
                </a:solidFill>
                <a:latin typeface="Arial"/>
              </a:rPr>
              <a:t>BigQuery replay of 27.3M requests, with the tier mix.</a:t>
            </a:r>
          </a:p>
        </p:txBody>
      </p:sp>
      <p:sp>
        <p:nvSpPr>
          <p:cNvPr id="135" name="Rounded Rectangle 134"/>
          <p:cNvSpPr/>
          <p:nvPr/>
        </p:nvSpPr>
        <p:spPr>
          <a:xfrm>
            <a:off x="5897880" y="3465576"/>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Oval 135"/>
          <p:cNvSpPr/>
          <p:nvPr/>
        </p:nvSpPr>
        <p:spPr>
          <a:xfrm>
            <a:off x="6007608" y="3648456"/>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6</a:t>
            </a:r>
          </a:p>
        </p:txBody>
      </p:sp>
      <p:sp>
        <p:nvSpPr>
          <p:cNvPr id="137" name="TextBox 136"/>
          <p:cNvSpPr txBox="1"/>
          <p:nvPr/>
        </p:nvSpPr>
        <p:spPr>
          <a:xfrm>
            <a:off x="6400800" y="3538728"/>
            <a:ext cx="2240280" cy="201168"/>
          </a:xfrm>
          <a:prstGeom prst="rect">
            <a:avLst/>
          </a:prstGeom>
          <a:noFill/>
        </p:spPr>
        <p:txBody>
          <a:bodyPr wrap="square" lIns="0" rIns="0" tIns="0" bIns="0" anchor="t"/>
          <a:lstStyle/>
          <a:p>
            <a:pPr algn="l"/>
            <a:r>
              <a:rPr sz="1050" b="1" i="0">
                <a:solidFill>
                  <a:srgbClr val="202124"/>
                </a:solidFill>
                <a:latin typeface="Arial"/>
              </a:rPr>
              <a:t>Demand forecast</a:t>
            </a:r>
          </a:p>
        </p:txBody>
      </p:sp>
      <p:sp>
        <p:nvSpPr>
          <p:cNvPr id="138" name="TextBox 137"/>
          <p:cNvSpPr txBox="1"/>
          <p:nvPr/>
        </p:nvSpPr>
        <p:spPr>
          <a:xfrm>
            <a:off x="6400800" y="3739896"/>
            <a:ext cx="2240280" cy="347472"/>
          </a:xfrm>
          <a:prstGeom prst="rect">
            <a:avLst/>
          </a:prstGeom>
          <a:noFill/>
        </p:spPr>
        <p:txBody>
          <a:bodyPr wrap="square" lIns="0" rIns="0" tIns="0" bIns="0" anchor="t"/>
          <a:lstStyle/>
          <a:p>
            <a:pPr algn="l"/>
            <a:r>
              <a:rPr sz="850" b="0" i="0">
                <a:solidFill>
                  <a:srgbClr val="5F6368"/>
                </a:solidFill>
                <a:latin typeface="Arial"/>
              </a:rPr>
              <a:t>BigQuery ML ARIMA_PLUS, next 24 h with a 90% band.</a:t>
            </a:r>
          </a:p>
        </p:txBody>
      </p:sp>
      <p:sp>
        <p:nvSpPr>
          <p:cNvPr id="139" name="Rounded Rectangle 138"/>
          <p:cNvSpPr/>
          <p:nvPr/>
        </p:nvSpPr>
        <p:spPr>
          <a:xfrm>
            <a:off x="2926080" y="4215383"/>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Oval 139"/>
          <p:cNvSpPr/>
          <p:nvPr/>
        </p:nvSpPr>
        <p:spPr>
          <a:xfrm>
            <a:off x="3035808" y="4398264"/>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7</a:t>
            </a:r>
          </a:p>
        </p:txBody>
      </p:sp>
      <p:sp>
        <p:nvSpPr>
          <p:cNvPr id="141" name="TextBox 140"/>
          <p:cNvSpPr txBox="1"/>
          <p:nvPr/>
        </p:nvSpPr>
        <p:spPr>
          <a:xfrm>
            <a:off x="3429000" y="4288536"/>
            <a:ext cx="2240280" cy="201168"/>
          </a:xfrm>
          <a:prstGeom prst="rect">
            <a:avLst/>
          </a:prstGeom>
          <a:noFill/>
        </p:spPr>
        <p:txBody>
          <a:bodyPr wrap="square" lIns="0" rIns="0" tIns="0" bIns="0" anchor="t"/>
          <a:lstStyle/>
          <a:p>
            <a:pPr algn="l"/>
            <a:r>
              <a:rPr sz="1050" b="1" i="0">
                <a:solidFill>
                  <a:srgbClr val="202124"/>
                </a:solidFill>
                <a:latin typeface="Arial"/>
              </a:rPr>
              <a:t>Live ledger</a:t>
            </a:r>
          </a:p>
        </p:txBody>
      </p:sp>
      <p:sp>
        <p:nvSpPr>
          <p:cNvPr id="142" name="TextBox 141"/>
          <p:cNvSpPr txBox="1"/>
          <p:nvPr/>
        </p:nvSpPr>
        <p:spPr>
          <a:xfrm>
            <a:off x="3429000" y="4489703"/>
            <a:ext cx="2240280" cy="347472"/>
          </a:xfrm>
          <a:prstGeom prst="rect">
            <a:avLst/>
          </a:prstGeom>
          <a:noFill/>
        </p:spPr>
        <p:txBody>
          <a:bodyPr wrap="square" lIns="0" rIns="0" tIns="0" bIns="0" anchor="t"/>
          <a:lstStyle/>
          <a:p>
            <a:pPr algn="l"/>
            <a:r>
              <a:rPr sz="850" b="0" i="0">
                <a:solidFill>
                  <a:srgbClr val="5F6368"/>
                </a:solidFill>
                <a:latin typeface="Arial"/>
              </a:rPr>
              <a:t>Every routing decision, tier, region, CO₂ and % saved.</a:t>
            </a:r>
          </a:p>
        </p:txBody>
      </p:sp>
      <p:sp>
        <p:nvSpPr>
          <p:cNvPr id="143" name="Rounded Rectangle 142"/>
          <p:cNvSpPr/>
          <p:nvPr/>
        </p:nvSpPr>
        <p:spPr>
          <a:xfrm>
            <a:off x="5897880" y="4215383"/>
            <a:ext cx="2834640" cy="6400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Oval 143"/>
          <p:cNvSpPr/>
          <p:nvPr/>
        </p:nvSpPr>
        <p:spPr>
          <a:xfrm>
            <a:off x="6007608" y="4398264"/>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8</a:t>
            </a:r>
          </a:p>
        </p:txBody>
      </p:sp>
      <p:sp>
        <p:nvSpPr>
          <p:cNvPr id="145" name="TextBox 144"/>
          <p:cNvSpPr txBox="1"/>
          <p:nvPr/>
        </p:nvSpPr>
        <p:spPr>
          <a:xfrm>
            <a:off x="6400800" y="4288536"/>
            <a:ext cx="2240280" cy="201168"/>
          </a:xfrm>
          <a:prstGeom prst="rect">
            <a:avLst/>
          </a:prstGeom>
          <a:noFill/>
        </p:spPr>
        <p:txBody>
          <a:bodyPr wrap="square" lIns="0" rIns="0" tIns="0" bIns="0" anchor="t"/>
          <a:lstStyle/>
          <a:p>
            <a:pPr algn="l"/>
            <a:r>
              <a:rPr sz="1050" b="1" i="0">
                <a:solidFill>
                  <a:srgbClr val="202124"/>
                </a:solidFill>
                <a:latin typeface="Arial"/>
              </a:rPr>
              <a:t>Analyst</a:t>
            </a:r>
          </a:p>
        </p:txBody>
      </p:sp>
      <p:sp>
        <p:nvSpPr>
          <p:cNvPr id="146" name="TextBox 145"/>
          <p:cNvSpPr txBox="1"/>
          <p:nvPr/>
        </p:nvSpPr>
        <p:spPr>
          <a:xfrm>
            <a:off x="6400800" y="4489703"/>
            <a:ext cx="2240280" cy="347472"/>
          </a:xfrm>
          <a:prstGeom prst="rect">
            <a:avLst/>
          </a:prstGeom>
          <a:noFill/>
        </p:spPr>
        <p:txBody>
          <a:bodyPr wrap="square" lIns="0" rIns="0" tIns="0" bIns="0" anchor="t"/>
          <a:lstStyle/>
          <a:p>
            <a:pPr algn="l"/>
            <a:r>
              <a:rPr sz="850" b="0" i="0">
                <a:solidFill>
                  <a:srgbClr val="5F6368"/>
                </a:solidFill>
                <a:latin typeface="Arial"/>
              </a:rPr>
              <a:t>Plain-English Q&amp;A grounded in live data (Gemini).</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Picture 111" descr="fig1.png"/>
          <p:cNvPicPr>
            <a:picLocks noChangeAspect="1"/>
          </p:cNvPicPr>
          <p:nvPr/>
        </p:nvPicPr>
        <p:blipFill>
          <a:blip r:embed="rId5"/>
          <a:stretch>
            <a:fillRect/>
          </a:stretch>
        </p:blipFill>
        <p:spPr>
          <a:xfrm>
            <a:off x="365760" y="1261872"/>
            <a:ext cx="6907826" cy="3639312"/>
          </a:xfrm>
          <a:prstGeom prst="rect">
            <a:avLst/>
          </a:prstGeom>
        </p:spPr>
      </p:pic>
      <p:sp>
        <p:nvSpPr>
          <p:cNvPr id="113" name="TextBox 112"/>
          <p:cNvSpPr txBox="1"/>
          <p:nvPr/>
        </p:nvSpPr>
        <p:spPr>
          <a:xfrm>
            <a:off x="7456466" y="1298448"/>
            <a:ext cx="1321773" cy="228600"/>
          </a:xfrm>
          <a:prstGeom prst="rect">
            <a:avLst/>
          </a:prstGeom>
          <a:noFill/>
        </p:spPr>
        <p:txBody>
          <a:bodyPr wrap="square" lIns="0" rIns="0" tIns="0" bIns="0" anchor="t"/>
          <a:lstStyle/>
          <a:p>
            <a:pPr algn="l"/>
            <a:r>
              <a:rPr sz="1050" b="1" i="0">
                <a:solidFill>
                  <a:srgbClr val="202124"/>
                </a:solidFill>
                <a:latin typeface="Arial"/>
              </a:rPr>
              <a:t>Legend</a:t>
            </a:r>
          </a:p>
        </p:txBody>
      </p:sp>
      <p:cxnSp>
        <p:nvCxnSpPr>
          <p:cNvPr id="114" name="Connector 113"/>
          <p:cNvCxnSpPr/>
          <p:nvPr/>
        </p:nvCxnSpPr>
        <p:spPr>
          <a:xfrm>
            <a:off x="7456466" y="1700784"/>
            <a:ext cx="320040" cy="0"/>
          </a:xfrm>
          <a:prstGeom prst="line">
            <a:avLst/>
          </a:prstGeom>
          <a:ln w="25400">
            <a:solidFill>
              <a:srgbClr val="18803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7867946" y="1627632"/>
            <a:ext cx="910293" cy="182880"/>
          </a:xfrm>
          <a:prstGeom prst="rect">
            <a:avLst/>
          </a:prstGeom>
          <a:noFill/>
        </p:spPr>
        <p:txBody>
          <a:bodyPr wrap="square" lIns="0" rIns="0" tIns="0" bIns="0" anchor="t"/>
          <a:lstStyle/>
          <a:p>
            <a:pPr algn="l"/>
            <a:r>
              <a:rPr sz="850" b="0" i="0">
                <a:solidFill>
                  <a:srgbClr val="202124"/>
                </a:solidFill>
                <a:latin typeface="Arial"/>
              </a:rPr>
              <a:t>Request path</a:t>
            </a:r>
          </a:p>
        </p:txBody>
      </p:sp>
      <p:cxnSp>
        <p:nvCxnSpPr>
          <p:cNvPr id="116" name="Connector 115"/>
          <p:cNvCxnSpPr/>
          <p:nvPr/>
        </p:nvCxnSpPr>
        <p:spPr>
          <a:xfrm>
            <a:off x="7456466" y="1993392"/>
            <a:ext cx="320040" cy="0"/>
          </a:xfrm>
          <a:prstGeom prst="line">
            <a:avLst/>
          </a:prstGeom>
          <a:ln w="25400">
            <a:solidFill>
              <a:srgbClr val="E37400"/>
            </a:solidFill>
            <a:prstDash val="dash"/>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7867946" y="1920240"/>
            <a:ext cx="910293" cy="182880"/>
          </a:xfrm>
          <a:prstGeom prst="rect">
            <a:avLst/>
          </a:prstGeom>
          <a:noFill/>
        </p:spPr>
        <p:txBody>
          <a:bodyPr wrap="square" lIns="0" rIns="0" tIns="0" bIns="0" anchor="t"/>
          <a:lstStyle/>
          <a:p>
            <a:pPr algn="l"/>
            <a:r>
              <a:rPr sz="850" b="0" i="0">
                <a:solidFill>
                  <a:srgbClr val="202124"/>
                </a:solidFill>
                <a:latin typeface="Arial"/>
              </a:rPr>
              <a:t>Deferred (Pub/Sub)</a:t>
            </a:r>
          </a:p>
        </p:txBody>
      </p:sp>
      <p:cxnSp>
        <p:nvCxnSpPr>
          <p:cNvPr id="118" name="Connector 117"/>
          <p:cNvCxnSpPr/>
          <p:nvPr/>
        </p:nvCxnSpPr>
        <p:spPr>
          <a:xfrm>
            <a:off x="7456466" y="2286000"/>
            <a:ext cx="320040" cy="0"/>
          </a:xfrm>
          <a:prstGeom prst="line">
            <a:avLst/>
          </a:prstGeom>
          <a:ln w="25400">
            <a:solidFill>
              <a:srgbClr val="1A73E8"/>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7867946" y="2212848"/>
            <a:ext cx="910293" cy="182880"/>
          </a:xfrm>
          <a:prstGeom prst="rect">
            <a:avLst/>
          </a:prstGeom>
          <a:noFill/>
        </p:spPr>
        <p:txBody>
          <a:bodyPr wrap="square" lIns="0" rIns="0" tIns="0" bIns="0" anchor="t"/>
          <a:lstStyle/>
          <a:p>
            <a:pPr algn="l"/>
            <a:r>
              <a:rPr sz="850" b="0" i="0">
                <a:solidFill>
                  <a:srgbClr val="202124"/>
                </a:solidFill>
                <a:latin typeface="Arial"/>
              </a:rPr>
              <a:t>Data read / write</a:t>
            </a:r>
          </a:p>
        </p:txBody>
      </p:sp>
      <p:sp>
        <p:nvSpPr>
          <p:cNvPr id="120" name="TextBox 119"/>
          <p:cNvSpPr txBox="1"/>
          <p:nvPr/>
        </p:nvSpPr>
        <p:spPr>
          <a:xfrm>
            <a:off x="7456466" y="2606040"/>
            <a:ext cx="1321773" cy="2286000"/>
          </a:xfrm>
          <a:prstGeom prst="rect">
            <a:avLst/>
          </a:prstGeom>
          <a:noFill/>
        </p:spPr>
        <p:txBody>
          <a:bodyPr wrap="square" lIns="0" rIns="0" tIns="0" bIns="0" anchor="t"/>
          <a:lstStyle/>
          <a:p>
            <a:pPr algn="l">
              <a:spcAft>
                <a:spcPts val="400"/>
              </a:spcAft>
            </a:pPr>
            <a:r>
              <a:rPr sz="1050" b="1" i="0">
                <a:solidFill>
                  <a:srgbClr val="202124"/>
                </a:solidFill>
                <a:latin typeface="Arial"/>
              </a:rPr>
              <a:t>Key facts</a:t>
            </a:r>
          </a:p>
          <a:p>
            <a:pPr algn="l">
              <a:spcAft>
                <a:spcPts val="500"/>
              </a:spcAft>
            </a:pPr>
            <a:r>
              <a:rPr sz="850" b="0" i="0">
                <a:solidFill>
                  <a:srgbClr val="202124"/>
                </a:solidFill>
                <a:latin typeface="Arial"/>
              </a:rPr>
              <a:t>All writes go through Cloud Run (Admin SDK). Browsers only read; Firestore rules block client writes.</a:t>
            </a:r>
          </a:p>
          <a:p>
            <a:pPr algn="l">
              <a:spcAft>
                <a:spcPts val="500"/>
              </a:spcAft>
            </a:pPr>
            <a:r>
              <a:rPr sz="850" b="0" i="0">
                <a:solidFill>
                  <a:srgbClr val="202124"/>
                </a:solidFill>
                <a:latin typeface="Arial"/>
              </a:rPr>
              <a:t>BigQuery is read at startup and cached for 1 h, never on the request path.</a:t>
            </a:r>
          </a:p>
          <a:p>
            <a:pPr algn="l">
              <a:spcAft>
                <a:spcPts val="0"/>
              </a:spcAft>
            </a:pPr>
            <a:r>
              <a:rPr sz="850" b="0" i="0">
                <a:solidFill>
                  <a:srgbClr val="202124"/>
                </a:solidFill>
                <a:latin typeface="Arial"/>
              </a:rPr>
              <a:t>Numbers ①–⑨ match the process flow.</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65760" y="1261872"/>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Oval 120"/>
          <p:cNvSpPr/>
          <p:nvPr/>
        </p:nvSpPr>
        <p:spPr>
          <a:xfrm>
            <a:off x="502920" y="1399031"/>
            <a:ext cx="384048" cy="38404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Picture 121" descr="MdAutoAwesome.png"/>
          <p:cNvPicPr>
            <a:picLocks noChangeAspect="1"/>
          </p:cNvPicPr>
          <p:nvPr/>
        </p:nvPicPr>
        <p:blipFill>
          <a:blip r:embed="rId5"/>
          <a:stretch>
            <a:fillRect/>
          </a:stretch>
        </p:blipFill>
        <p:spPr>
          <a:xfrm>
            <a:off x="587410" y="1483522"/>
            <a:ext cx="215066" cy="215066"/>
          </a:xfrm>
          <a:prstGeom prst="rect">
            <a:avLst/>
          </a:prstGeom>
        </p:spPr>
      </p:pic>
      <p:sp>
        <p:nvSpPr>
          <p:cNvPr id="123" name="TextBox 122"/>
          <p:cNvSpPr txBox="1"/>
          <p:nvPr/>
        </p:nvSpPr>
        <p:spPr>
          <a:xfrm>
            <a:off x="960120" y="1399031"/>
            <a:ext cx="1316736" cy="384048"/>
          </a:xfrm>
          <a:prstGeom prst="rect">
            <a:avLst/>
          </a:prstGeom>
          <a:noFill/>
        </p:spPr>
        <p:txBody>
          <a:bodyPr wrap="square" lIns="0" rIns="0" tIns="0" bIns="0" anchor="ctr"/>
          <a:lstStyle/>
          <a:p>
            <a:pPr algn="l"/>
            <a:r>
              <a:rPr sz="1050" b="1" i="0">
                <a:solidFill>
                  <a:srgbClr val="202124"/>
                </a:solidFill>
                <a:latin typeface="Arial"/>
              </a:rPr>
              <a:t>Gemini on Vertex AI</a:t>
            </a:r>
          </a:p>
        </p:txBody>
      </p:sp>
      <p:sp>
        <p:nvSpPr>
          <p:cNvPr id="124" name="TextBox 123"/>
          <p:cNvSpPr txBox="1"/>
          <p:nvPr/>
        </p:nvSpPr>
        <p:spPr>
          <a:xfrm>
            <a:off x="502920" y="1901952"/>
            <a:ext cx="1728216" cy="822960"/>
          </a:xfrm>
          <a:prstGeom prst="rect">
            <a:avLst/>
          </a:prstGeom>
          <a:noFill/>
        </p:spPr>
        <p:txBody>
          <a:bodyPr wrap="square" lIns="0" rIns="0" tIns="0" bIns="0" anchor="t"/>
          <a:lstStyle/>
          <a:p>
            <a:pPr algn="l"/>
            <a:r>
              <a:rPr sz="900" b="0" i="0">
                <a:solidFill>
                  <a:srgbClr val="5F6368"/>
                </a:solidFill>
                <a:latin typeface="Arial"/>
              </a:rPr>
              <a:t>Triage with a JSON schema; multi-region answers on 2.5 Flash-Lite, Flash and Pro; image prompts; analyst.</a:t>
            </a:r>
          </a:p>
        </p:txBody>
      </p:sp>
      <p:sp>
        <p:nvSpPr>
          <p:cNvPr id="125" name="Rounded Rectangle 124"/>
          <p:cNvSpPr/>
          <p:nvPr/>
        </p:nvSpPr>
        <p:spPr>
          <a:xfrm>
            <a:off x="2502712" y="1261872"/>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Oval 125"/>
          <p:cNvSpPr/>
          <p:nvPr/>
        </p:nvSpPr>
        <p:spPr>
          <a:xfrm>
            <a:off x="2639872" y="1399031"/>
            <a:ext cx="384048" cy="38404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7" name="Picture 126" descr="MdRocketLaunch.png"/>
          <p:cNvPicPr>
            <a:picLocks noChangeAspect="1"/>
          </p:cNvPicPr>
          <p:nvPr/>
        </p:nvPicPr>
        <p:blipFill>
          <a:blip r:embed="rId6"/>
          <a:stretch>
            <a:fillRect/>
          </a:stretch>
        </p:blipFill>
        <p:spPr>
          <a:xfrm>
            <a:off x="2724363" y="1483522"/>
            <a:ext cx="215066" cy="215066"/>
          </a:xfrm>
          <a:prstGeom prst="rect">
            <a:avLst/>
          </a:prstGeom>
        </p:spPr>
      </p:pic>
      <p:sp>
        <p:nvSpPr>
          <p:cNvPr id="128" name="TextBox 127"/>
          <p:cNvSpPr txBox="1"/>
          <p:nvPr/>
        </p:nvSpPr>
        <p:spPr>
          <a:xfrm>
            <a:off x="3097072" y="1399031"/>
            <a:ext cx="1316736" cy="384048"/>
          </a:xfrm>
          <a:prstGeom prst="rect">
            <a:avLst/>
          </a:prstGeom>
          <a:noFill/>
        </p:spPr>
        <p:txBody>
          <a:bodyPr wrap="square" lIns="0" rIns="0" tIns="0" bIns="0" anchor="ctr"/>
          <a:lstStyle/>
          <a:p>
            <a:pPr algn="l"/>
            <a:r>
              <a:rPr sz="1050" b="1" i="0">
                <a:solidFill>
                  <a:srgbClr val="202124"/>
                </a:solidFill>
                <a:latin typeface="Arial"/>
              </a:rPr>
              <a:t>Cloud Run</a:t>
            </a:r>
          </a:p>
        </p:txBody>
      </p:sp>
      <p:sp>
        <p:nvSpPr>
          <p:cNvPr id="129" name="TextBox 128"/>
          <p:cNvSpPr txBox="1"/>
          <p:nvPr/>
        </p:nvSpPr>
        <p:spPr>
          <a:xfrm>
            <a:off x="2639872" y="1901952"/>
            <a:ext cx="1728216" cy="822960"/>
          </a:xfrm>
          <a:prstGeom prst="rect">
            <a:avLst/>
          </a:prstGeom>
          <a:noFill/>
        </p:spPr>
        <p:txBody>
          <a:bodyPr wrap="square" lIns="0" rIns="0" tIns="0" bIns="0" anchor="t"/>
          <a:lstStyle/>
          <a:p>
            <a:pPr algn="l"/>
            <a:r>
              <a:rPr sz="900" b="0" i="0">
                <a:solidFill>
                  <a:srgbClr val="5F6368"/>
                </a:solidFill>
                <a:latin typeface="Arial"/>
              </a:rPr>
              <a:t>FastAPI router, carbon planner and Pub/Sub worker in asia-south1, min 1 instance.</a:t>
            </a:r>
          </a:p>
        </p:txBody>
      </p:sp>
      <p:sp>
        <p:nvSpPr>
          <p:cNvPr id="130" name="Rounded Rectangle 129"/>
          <p:cNvSpPr/>
          <p:nvPr/>
        </p:nvSpPr>
        <p:spPr>
          <a:xfrm>
            <a:off x="4639665" y="1261872"/>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Oval 130"/>
          <p:cNvSpPr/>
          <p:nvPr/>
        </p:nvSpPr>
        <p:spPr>
          <a:xfrm>
            <a:off x="4776825" y="1399031"/>
            <a:ext cx="384048" cy="38404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MdLanguage.png"/>
          <p:cNvPicPr>
            <a:picLocks noChangeAspect="1"/>
          </p:cNvPicPr>
          <p:nvPr/>
        </p:nvPicPr>
        <p:blipFill>
          <a:blip r:embed="rId7"/>
          <a:stretch>
            <a:fillRect/>
          </a:stretch>
        </p:blipFill>
        <p:spPr>
          <a:xfrm>
            <a:off x="4861316" y="1483522"/>
            <a:ext cx="215066" cy="215066"/>
          </a:xfrm>
          <a:prstGeom prst="rect">
            <a:avLst/>
          </a:prstGeom>
        </p:spPr>
      </p:pic>
      <p:sp>
        <p:nvSpPr>
          <p:cNvPr id="133" name="TextBox 132"/>
          <p:cNvSpPr txBox="1"/>
          <p:nvPr/>
        </p:nvSpPr>
        <p:spPr>
          <a:xfrm>
            <a:off x="5234025" y="1399031"/>
            <a:ext cx="1316736" cy="384048"/>
          </a:xfrm>
          <a:prstGeom prst="rect">
            <a:avLst/>
          </a:prstGeom>
          <a:noFill/>
        </p:spPr>
        <p:txBody>
          <a:bodyPr wrap="square" lIns="0" rIns="0" tIns="0" bIns="0" anchor="ctr"/>
          <a:lstStyle/>
          <a:p>
            <a:pPr algn="l"/>
            <a:r>
              <a:rPr sz="1050" b="1" i="0">
                <a:solidFill>
                  <a:srgbClr val="202124"/>
                </a:solidFill>
                <a:latin typeface="Arial"/>
              </a:rPr>
              <a:t>Firebase Hosting</a:t>
            </a:r>
          </a:p>
        </p:txBody>
      </p:sp>
      <p:sp>
        <p:nvSpPr>
          <p:cNvPr id="134" name="TextBox 133"/>
          <p:cNvSpPr txBox="1"/>
          <p:nvPr/>
        </p:nvSpPr>
        <p:spPr>
          <a:xfrm>
            <a:off x="4776825" y="1901952"/>
            <a:ext cx="1728216" cy="822960"/>
          </a:xfrm>
          <a:prstGeom prst="rect">
            <a:avLst/>
          </a:prstGeom>
          <a:noFill/>
        </p:spPr>
        <p:txBody>
          <a:bodyPr wrap="square" lIns="0" rIns="0" tIns="0" bIns="0" anchor="t"/>
          <a:lstStyle/>
          <a:p>
            <a:pPr algn="l"/>
            <a:r>
              <a:rPr sz="900" b="0" i="0">
                <a:solidFill>
                  <a:srgbClr val="5F6368"/>
                </a:solidFill>
                <a:latin typeface="Arial"/>
              </a:rPr>
              <a:t>Serves the web app and rewrites /api/** to Cloud Run on the same origin.</a:t>
            </a:r>
          </a:p>
        </p:txBody>
      </p:sp>
      <p:sp>
        <p:nvSpPr>
          <p:cNvPr id="135" name="Rounded Rectangle 134"/>
          <p:cNvSpPr/>
          <p:nvPr/>
        </p:nvSpPr>
        <p:spPr>
          <a:xfrm>
            <a:off x="6776618" y="1261872"/>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Oval 135"/>
          <p:cNvSpPr/>
          <p:nvPr/>
        </p:nvSpPr>
        <p:spPr>
          <a:xfrm>
            <a:off x="6913778" y="1399031"/>
            <a:ext cx="384048" cy="38404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7" name="Picture 136" descr="MdStorage.png"/>
          <p:cNvPicPr>
            <a:picLocks noChangeAspect="1"/>
          </p:cNvPicPr>
          <p:nvPr/>
        </p:nvPicPr>
        <p:blipFill>
          <a:blip r:embed="rId8"/>
          <a:stretch>
            <a:fillRect/>
          </a:stretch>
        </p:blipFill>
        <p:spPr>
          <a:xfrm>
            <a:off x="6998268" y="1483522"/>
            <a:ext cx="215066" cy="215066"/>
          </a:xfrm>
          <a:prstGeom prst="rect">
            <a:avLst/>
          </a:prstGeom>
        </p:spPr>
      </p:pic>
      <p:sp>
        <p:nvSpPr>
          <p:cNvPr id="138" name="TextBox 137"/>
          <p:cNvSpPr txBox="1"/>
          <p:nvPr/>
        </p:nvSpPr>
        <p:spPr>
          <a:xfrm>
            <a:off x="7370978" y="1399031"/>
            <a:ext cx="1316736" cy="384048"/>
          </a:xfrm>
          <a:prstGeom prst="rect">
            <a:avLst/>
          </a:prstGeom>
          <a:noFill/>
        </p:spPr>
        <p:txBody>
          <a:bodyPr wrap="square" lIns="0" rIns="0" tIns="0" bIns="0" anchor="ctr"/>
          <a:lstStyle/>
          <a:p>
            <a:pPr algn="l"/>
            <a:r>
              <a:rPr sz="1050" b="1" i="0">
                <a:solidFill>
                  <a:srgbClr val="202124"/>
                </a:solidFill>
                <a:latin typeface="Arial"/>
              </a:rPr>
              <a:t>Firestore</a:t>
            </a:r>
          </a:p>
        </p:txBody>
      </p:sp>
      <p:sp>
        <p:nvSpPr>
          <p:cNvPr id="139" name="TextBox 138"/>
          <p:cNvSpPr txBox="1"/>
          <p:nvPr/>
        </p:nvSpPr>
        <p:spPr>
          <a:xfrm>
            <a:off x="6913778" y="1901952"/>
            <a:ext cx="1728216" cy="822960"/>
          </a:xfrm>
          <a:prstGeom prst="rect">
            <a:avLst/>
          </a:prstGeom>
          <a:noFill/>
        </p:spPr>
        <p:txBody>
          <a:bodyPr wrap="square" lIns="0" rIns="0" tIns="0" bIns="0" anchor="t"/>
          <a:lstStyle/>
          <a:p>
            <a:pPr algn="l"/>
            <a:r>
              <a:rPr sz="900" b="0" i="0">
                <a:solidFill>
                  <a:srgbClr val="5F6368"/>
                </a:solidFill>
                <a:latin typeface="Arial"/>
              </a:rPr>
              <a:t>Realtime ledger requests/{id} plus atomic global counters in stats/global.</a:t>
            </a:r>
          </a:p>
        </p:txBody>
      </p:sp>
      <p:sp>
        <p:nvSpPr>
          <p:cNvPr id="140" name="Rounded Rectangle 139"/>
          <p:cNvSpPr/>
          <p:nvPr/>
        </p:nvSpPr>
        <p:spPr>
          <a:xfrm>
            <a:off x="365760" y="2852928"/>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Oval 140"/>
          <p:cNvSpPr/>
          <p:nvPr/>
        </p:nvSpPr>
        <p:spPr>
          <a:xfrm>
            <a:off x="502920" y="2990088"/>
            <a:ext cx="384048" cy="38404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2" name="Picture 141" descr="MdQueryStats.png"/>
          <p:cNvPicPr>
            <a:picLocks noChangeAspect="1"/>
          </p:cNvPicPr>
          <p:nvPr/>
        </p:nvPicPr>
        <p:blipFill>
          <a:blip r:embed="rId9"/>
          <a:stretch>
            <a:fillRect/>
          </a:stretch>
        </p:blipFill>
        <p:spPr>
          <a:xfrm>
            <a:off x="587410" y="3074578"/>
            <a:ext cx="215066" cy="215066"/>
          </a:xfrm>
          <a:prstGeom prst="rect">
            <a:avLst/>
          </a:prstGeom>
        </p:spPr>
      </p:pic>
      <p:sp>
        <p:nvSpPr>
          <p:cNvPr id="143" name="TextBox 142"/>
          <p:cNvSpPr txBox="1"/>
          <p:nvPr/>
        </p:nvSpPr>
        <p:spPr>
          <a:xfrm>
            <a:off x="960120" y="2990088"/>
            <a:ext cx="1316736" cy="384048"/>
          </a:xfrm>
          <a:prstGeom prst="rect">
            <a:avLst/>
          </a:prstGeom>
          <a:noFill/>
        </p:spPr>
        <p:txBody>
          <a:bodyPr wrap="square" lIns="0" rIns="0" tIns="0" bIns="0" anchor="ctr"/>
          <a:lstStyle/>
          <a:p>
            <a:pPr algn="l"/>
            <a:r>
              <a:rPr sz="1050" b="1" i="0">
                <a:solidFill>
                  <a:srgbClr val="202124"/>
                </a:solidFill>
                <a:latin typeface="Arial"/>
              </a:rPr>
              <a:t>BigQuery</a:t>
            </a:r>
          </a:p>
        </p:txBody>
      </p:sp>
      <p:sp>
        <p:nvSpPr>
          <p:cNvPr id="144" name="TextBox 143"/>
          <p:cNvSpPr txBox="1"/>
          <p:nvPr/>
        </p:nvSpPr>
        <p:spPr>
          <a:xfrm>
            <a:off x="502920" y="3493008"/>
            <a:ext cx="1728216" cy="822960"/>
          </a:xfrm>
          <a:prstGeom prst="rect">
            <a:avLst/>
          </a:prstGeom>
          <a:noFill/>
        </p:spPr>
        <p:txBody>
          <a:bodyPr wrap="square" lIns="0" rIns="0" tIns="0" bIns="0" anchor="t"/>
          <a:lstStyle/>
          <a:p>
            <a:pPr algn="l"/>
            <a:r>
              <a:rPr sz="900" b="0" i="0">
                <a:solidFill>
                  <a:srgbClr val="5F6368"/>
                </a:solidFill>
                <a:latin typeface="Arial"/>
              </a:rPr>
              <a:t>Google region-carbon data and the 27.3M-row Azure trace; fleet replay in SQL.</a:t>
            </a:r>
          </a:p>
        </p:txBody>
      </p:sp>
      <p:sp>
        <p:nvSpPr>
          <p:cNvPr id="145" name="Rounded Rectangle 144"/>
          <p:cNvSpPr/>
          <p:nvPr/>
        </p:nvSpPr>
        <p:spPr>
          <a:xfrm>
            <a:off x="2502712" y="2852928"/>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Oval 145"/>
          <p:cNvSpPr/>
          <p:nvPr/>
        </p:nvSpPr>
        <p:spPr>
          <a:xfrm>
            <a:off x="2639872" y="2990088"/>
            <a:ext cx="384048" cy="38404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Picture 146" descr="MdModelTraining.png"/>
          <p:cNvPicPr>
            <a:picLocks noChangeAspect="1"/>
          </p:cNvPicPr>
          <p:nvPr/>
        </p:nvPicPr>
        <p:blipFill>
          <a:blip r:embed="rId10"/>
          <a:stretch>
            <a:fillRect/>
          </a:stretch>
        </p:blipFill>
        <p:spPr>
          <a:xfrm>
            <a:off x="2724363" y="3074578"/>
            <a:ext cx="215066" cy="215066"/>
          </a:xfrm>
          <a:prstGeom prst="rect">
            <a:avLst/>
          </a:prstGeom>
        </p:spPr>
      </p:pic>
      <p:sp>
        <p:nvSpPr>
          <p:cNvPr id="148" name="TextBox 147"/>
          <p:cNvSpPr txBox="1"/>
          <p:nvPr/>
        </p:nvSpPr>
        <p:spPr>
          <a:xfrm>
            <a:off x="3097072" y="2990088"/>
            <a:ext cx="1316736" cy="384048"/>
          </a:xfrm>
          <a:prstGeom prst="rect">
            <a:avLst/>
          </a:prstGeom>
          <a:noFill/>
        </p:spPr>
        <p:txBody>
          <a:bodyPr wrap="square" lIns="0" rIns="0" tIns="0" bIns="0" anchor="ctr"/>
          <a:lstStyle/>
          <a:p>
            <a:pPr algn="l"/>
            <a:r>
              <a:rPr sz="1050" b="1" i="0">
                <a:solidFill>
                  <a:srgbClr val="202124"/>
                </a:solidFill>
                <a:latin typeface="Arial"/>
              </a:rPr>
              <a:t>BigQuery ML + Model Registry</a:t>
            </a:r>
          </a:p>
        </p:txBody>
      </p:sp>
      <p:sp>
        <p:nvSpPr>
          <p:cNvPr id="149" name="TextBox 148"/>
          <p:cNvSpPr txBox="1"/>
          <p:nvPr/>
        </p:nvSpPr>
        <p:spPr>
          <a:xfrm>
            <a:off x="2639872" y="3493008"/>
            <a:ext cx="1728216" cy="822960"/>
          </a:xfrm>
          <a:prstGeom prst="rect">
            <a:avLst/>
          </a:prstGeom>
          <a:noFill/>
        </p:spPr>
        <p:txBody>
          <a:bodyPr wrap="square" lIns="0" rIns="0" tIns="0" bIns="0" anchor="t"/>
          <a:lstStyle/>
          <a:p>
            <a:pPr algn="l"/>
            <a:r>
              <a:rPr sz="900" b="0" i="0">
                <a:solidFill>
                  <a:srgbClr val="5F6368"/>
                </a:solidFill>
                <a:latin typeface="Arial"/>
              </a:rPr>
              <a:t>LINEAR_REG output-length model and ARIMA_PLUS 24 h demand forecast.</a:t>
            </a:r>
          </a:p>
        </p:txBody>
      </p:sp>
      <p:sp>
        <p:nvSpPr>
          <p:cNvPr id="150" name="Rounded Rectangle 149"/>
          <p:cNvSpPr/>
          <p:nvPr/>
        </p:nvSpPr>
        <p:spPr>
          <a:xfrm>
            <a:off x="4639665" y="2852928"/>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Oval 150"/>
          <p:cNvSpPr/>
          <p:nvPr/>
        </p:nvSpPr>
        <p:spPr>
          <a:xfrm>
            <a:off x="4776825" y="2990088"/>
            <a:ext cx="384048" cy="384048"/>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dSwapHoriz.png"/>
          <p:cNvPicPr>
            <a:picLocks noChangeAspect="1"/>
          </p:cNvPicPr>
          <p:nvPr/>
        </p:nvPicPr>
        <p:blipFill>
          <a:blip r:embed="rId11"/>
          <a:stretch>
            <a:fillRect/>
          </a:stretch>
        </p:blipFill>
        <p:spPr>
          <a:xfrm>
            <a:off x="4861316" y="3074578"/>
            <a:ext cx="215066" cy="215066"/>
          </a:xfrm>
          <a:prstGeom prst="rect">
            <a:avLst/>
          </a:prstGeom>
        </p:spPr>
      </p:pic>
      <p:sp>
        <p:nvSpPr>
          <p:cNvPr id="153" name="TextBox 152"/>
          <p:cNvSpPr txBox="1"/>
          <p:nvPr/>
        </p:nvSpPr>
        <p:spPr>
          <a:xfrm>
            <a:off x="5234025" y="2990088"/>
            <a:ext cx="1316736" cy="384048"/>
          </a:xfrm>
          <a:prstGeom prst="rect">
            <a:avLst/>
          </a:prstGeom>
          <a:noFill/>
        </p:spPr>
        <p:txBody>
          <a:bodyPr wrap="square" lIns="0" rIns="0" tIns="0" bIns="0" anchor="ctr"/>
          <a:lstStyle/>
          <a:p>
            <a:pPr algn="l"/>
            <a:r>
              <a:rPr sz="1050" b="1" i="0">
                <a:solidFill>
                  <a:srgbClr val="202124"/>
                </a:solidFill>
                <a:latin typeface="Arial"/>
              </a:rPr>
              <a:t>Pub/Sub</a:t>
            </a:r>
          </a:p>
        </p:txBody>
      </p:sp>
      <p:sp>
        <p:nvSpPr>
          <p:cNvPr id="154" name="TextBox 153"/>
          <p:cNvSpPr txBox="1"/>
          <p:nvPr/>
        </p:nvSpPr>
        <p:spPr>
          <a:xfrm>
            <a:off x="4776825" y="3493008"/>
            <a:ext cx="1728216" cy="822960"/>
          </a:xfrm>
          <a:prstGeom prst="rect">
            <a:avLst/>
          </a:prstGeom>
          <a:noFill/>
        </p:spPr>
        <p:txBody>
          <a:bodyPr wrap="square" lIns="0" rIns="0" tIns="0" bIns="0" anchor="t"/>
          <a:lstStyle/>
          <a:p>
            <a:pPr algn="l"/>
            <a:r>
              <a:rPr sz="900" b="0" i="0">
                <a:solidFill>
                  <a:srgbClr val="5F6368"/>
                </a:solidFill>
                <a:latin typeface="Arial"/>
              </a:rPr>
              <a:t>Event-driven queue for deferrable jobs; push subscription to /api/worker.</a:t>
            </a:r>
          </a:p>
        </p:txBody>
      </p:sp>
      <p:sp>
        <p:nvSpPr>
          <p:cNvPr id="155" name="Rounded Rectangle 154"/>
          <p:cNvSpPr/>
          <p:nvPr/>
        </p:nvSpPr>
        <p:spPr>
          <a:xfrm>
            <a:off x="6776618" y="2852928"/>
            <a:ext cx="2002536" cy="148132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Oval 155"/>
          <p:cNvSpPr/>
          <p:nvPr/>
        </p:nvSpPr>
        <p:spPr>
          <a:xfrm>
            <a:off x="6913778" y="2990088"/>
            <a:ext cx="384048" cy="384048"/>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7" name="Picture 156" descr="MdInventory2.png"/>
          <p:cNvPicPr>
            <a:picLocks noChangeAspect="1"/>
          </p:cNvPicPr>
          <p:nvPr/>
        </p:nvPicPr>
        <p:blipFill>
          <a:blip r:embed="rId12"/>
          <a:stretch>
            <a:fillRect/>
          </a:stretch>
        </p:blipFill>
        <p:spPr>
          <a:xfrm>
            <a:off x="6998268" y="3074578"/>
            <a:ext cx="215066" cy="215066"/>
          </a:xfrm>
          <a:prstGeom prst="rect">
            <a:avLst/>
          </a:prstGeom>
        </p:spPr>
      </p:pic>
      <p:sp>
        <p:nvSpPr>
          <p:cNvPr id="158" name="TextBox 157"/>
          <p:cNvSpPr txBox="1"/>
          <p:nvPr/>
        </p:nvSpPr>
        <p:spPr>
          <a:xfrm>
            <a:off x="7370978" y="2990088"/>
            <a:ext cx="1316736" cy="384048"/>
          </a:xfrm>
          <a:prstGeom prst="rect">
            <a:avLst/>
          </a:prstGeom>
          <a:noFill/>
        </p:spPr>
        <p:txBody>
          <a:bodyPr wrap="square" lIns="0" rIns="0" tIns="0" bIns="0" anchor="ctr"/>
          <a:lstStyle/>
          <a:p>
            <a:pPr algn="l"/>
            <a:r>
              <a:rPr sz="1050" b="1" i="0">
                <a:solidFill>
                  <a:srgbClr val="202124"/>
                </a:solidFill>
                <a:latin typeface="Arial"/>
              </a:rPr>
              <a:t>Cloud Storage</a:t>
            </a:r>
          </a:p>
        </p:txBody>
      </p:sp>
      <p:sp>
        <p:nvSpPr>
          <p:cNvPr id="159" name="TextBox 158"/>
          <p:cNvSpPr txBox="1"/>
          <p:nvPr/>
        </p:nvSpPr>
        <p:spPr>
          <a:xfrm>
            <a:off x="6913778" y="3493008"/>
            <a:ext cx="1728216" cy="822960"/>
          </a:xfrm>
          <a:prstGeom prst="rect">
            <a:avLst/>
          </a:prstGeom>
          <a:noFill/>
        </p:spPr>
        <p:txBody>
          <a:bodyPr wrap="square" lIns="0" rIns="0" tIns="0" bIns="0" anchor="t"/>
          <a:lstStyle/>
          <a:p>
            <a:pPr algn="l"/>
            <a:r>
              <a:rPr sz="900" b="0" i="0">
                <a:solidFill>
                  <a:srgbClr val="5F6368"/>
                </a:solidFill>
                <a:latin typeface="Arial"/>
              </a:rPr>
              <a:t>Landing zone for the raw datasets (1.1 GB trace CSV).</a:t>
            </a:r>
          </a:p>
        </p:txBody>
      </p:sp>
      <p:sp>
        <p:nvSpPr>
          <p:cNvPr id="160" name="Rounded Rectangle 159"/>
          <p:cNvSpPr/>
          <p:nvPr/>
        </p:nvSpPr>
        <p:spPr>
          <a:xfrm>
            <a:off x="365760" y="4517136"/>
            <a:ext cx="8412480" cy="384048"/>
          </a:xfrm>
          <a:prstGeom prst="roundRect">
            <a:avLst>
              <a:gd name="adj" fmla="val 2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548640" y="4517136"/>
            <a:ext cx="8046720" cy="384048"/>
          </a:xfrm>
          <a:prstGeom prst="rect">
            <a:avLst/>
          </a:prstGeom>
          <a:noFill/>
        </p:spPr>
        <p:txBody>
          <a:bodyPr wrap="square" lIns="0" rIns="0" tIns="0" bIns="0" anchor="ctr"/>
          <a:lstStyle/>
          <a:p>
            <a:pPr algn="l"/>
            <a:r>
              <a:rPr sz="950" b="1" i="0">
                <a:solidFill>
                  <a:srgbClr val="188038"/>
                </a:solidFill>
                <a:latin typeface="Arial"/>
              </a:rPr>
              <a:t>Stack  </a:t>
            </a:r>
            <a:r>
              <a:rPr sz="950" b="0" i="0">
                <a:solidFill>
                  <a:srgbClr val="202124"/>
                </a:solidFill>
                <a:latin typeface="Arial"/>
              </a:rPr>
              <a:t>Python 3.11 · FastAPI · google-genai SDK · Firebase Admin and JS SDKs · Chart.js · Docker · Cloud Build · Artifact Registry · IAM</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65760" y="1261872"/>
            <a:ext cx="4846320" cy="228600"/>
          </a:xfrm>
          <a:prstGeom prst="rect">
            <a:avLst/>
          </a:prstGeom>
          <a:noFill/>
        </p:spPr>
        <p:txBody>
          <a:bodyPr wrap="square" lIns="0" rIns="0" tIns="0" bIns="0" anchor="t"/>
          <a:lstStyle/>
          <a:p>
            <a:pPr algn="l"/>
            <a:r>
              <a:rPr sz="1100" b="1" i="0">
                <a:solidFill>
                  <a:srgbClr val="202124"/>
                </a:solidFill>
                <a:latin typeface="Arial"/>
              </a:rPr>
              <a:t>Prototype running cost, per month (estimate)</a:t>
            </a:r>
          </a:p>
        </p:txBody>
      </p:sp>
      <p:graphicFrame>
        <p:nvGraphicFramePr>
          <p:cNvPr id="129" name="Table 128"/>
          <p:cNvGraphicFramePr>
            <a:graphicFrameLocks noGrp="1"/>
          </p:cNvGraphicFramePr>
          <p:nvPr/>
        </p:nvGraphicFramePr>
        <p:xfrm>
          <a:off x="365760" y="1554480"/>
          <a:ext cx="4846320" cy="2560320"/>
        </p:xfrm>
        <a:graphic>
          <a:graphicData uri="http://schemas.openxmlformats.org/drawingml/2006/table">
            <a:tbl>
              <a:tblPr firstRow="0" bandRow="0">
                <a:tableStyleId>{5C22544A-7EE6-4342-B048-85BDC9FD1C3A}</a:tableStyleId>
              </a:tblPr>
              <a:tblGrid>
                <a:gridCol w="1600200"/>
                <a:gridCol w="2148840"/>
                <a:gridCol w="1097280"/>
              </a:tblGrid>
              <a:tr h="365760">
                <a:tc>
                  <a:txBody>
                    <a:bodyPr wrap="square"/>
                    <a:lstStyle/>
                    <a:p>
                      <a:pPr algn="l"/>
                      <a:r>
                        <a:rPr sz="900" b="1">
                          <a:solidFill>
                            <a:srgbClr val="FFFFFF"/>
                          </a:solidFill>
                          <a:latin typeface="Arial"/>
                        </a:rPr>
                        <a:t>Component</a:t>
                      </a:r>
                    </a:p>
                  </a:txBody>
                  <a:tcPr marL="73152" marR="73152" marT="27432" marB="27432" anchor="ctr">
                    <a:solidFill>
                      <a:srgbClr val="202124"/>
                    </a:solidFill>
                  </a:tcPr>
                </a:tc>
                <a:tc>
                  <a:txBody>
                    <a:bodyPr wrap="square"/>
                    <a:lstStyle/>
                    <a:p>
                      <a:pPr algn="l"/>
                      <a:r>
                        <a:rPr sz="900" b="1">
                          <a:solidFill>
                            <a:srgbClr val="FFFFFF"/>
                          </a:solidFill>
                          <a:latin typeface="Arial"/>
                        </a:rPr>
                        <a:t>Basis</a:t>
                      </a:r>
                    </a:p>
                  </a:txBody>
                  <a:tcPr marL="73152" marR="73152" marT="27432" marB="27432" anchor="ctr">
                    <a:solidFill>
                      <a:srgbClr val="202124"/>
                    </a:solidFill>
                  </a:tcPr>
                </a:tc>
                <a:tc>
                  <a:txBody>
                    <a:bodyPr wrap="square"/>
                    <a:lstStyle/>
                    <a:p>
                      <a:pPr algn="r"/>
                      <a:r>
                        <a:rPr sz="900" b="1">
                          <a:solidFill>
                            <a:srgbClr val="FFFFFF"/>
                          </a:solidFill>
                          <a:latin typeface="Arial"/>
                        </a:rPr>
                        <a:t>USD / month</a:t>
                      </a:r>
                    </a:p>
                  </a:txBody>
                  <a:tcPr marL="73152" marR="73152" marT="27432" marB="27432" anchor="ctr">
                    <a:solidFill>
                      <a:srgbClr val="202124"/>
                    </a:solidFill>
                  </a:tcPr>
                </a:tc>
              </a:tr>
              <a:tr h="365760">
                <a:tc>
                  <a:txBody>
                    <a:bodyPr wrap="square"/>
                    <a:lstStyle/>
                    <a:p>
                      <a:pPr algn="l"/>
                      <a:r>
                        <a:rPr sz="900" b="0">
                          <a:solidFill>
                            <a:srgbClr val="202124"/>
                          </a:solidFill>
                          <a:latin typeface="Arial"/>
                        </a:rPr>
                        <a:t>Cloud Run</a:t>
                      </a:r>
                    </a:p>
                  </a:txBody>
                  <a:tcPr marL="73152" marR="73152" marT="27432" marB="27432" anchor="ctr">
                    <a:solidFill>
                      <a:srgbClr val="FFFFFF"/>
                    </a:solidFill>
                  </a:tcPr>
                </a:tc>
                <a:tc>
                  <a:txBody>
                    <a:bodyPr wrap="square"/>
                    <a:lstStyle/>
                    <a:p>
                      <a:pPr algn="l"/>
                      <a:r>
                        <a:rPr sz="900" b="0">
                          <a:solidFill>
                            <a:srgbClr val="202124"/>
                          </a:solidFill>
                          <a:latin typeface="Arial"/>
                        </a:rPr>
                        <a:t>1 always-warm instance (1 vCPU, 1 GiB) at idle rate</a:t>
                      </a:r>
                    </a:p>
                  </a:txBody>
                  <a:tcPr marL="73152" marR="73152" marT="27432" marB="27432" anchor="ctr">
                    <a:solidFill>
                      <a:srgbClr val="FFFFFF"/>
                    </a:solidFill>
                  </a:tcPr>
                </a:tc>
                <a:tc>
                  <a:txBody>
                    <a:bodyPr wrap="square"/>
                    <a:lstStyle/>
                    <a:p>
                      <a:pPr algn="r"/>
                      <a:r>
                        <a:rPr sz="900" b="0">
                          <a:solidFill>
                            <a:srgbClr val="202124"/>
                          </a:solidFill>
                          <a:latin typeface="Arial"/>
                        </a:rPr>
                        <a:t>≈ $13–18</a:t>
                      </a:r>
                    </a:p>
                  </a:txBody>
                  <a:tcPr marL="73152" marR="73152" marT="27432" marB="27432" anchor="ctr">
                    <a:solidFill>
                      <a:srgbClr val="FFFFFF"/>
                    </a:solidFill>
                  </a:tcPr>
                </a:tc>
              </a:tr>
              <a:tr h="365760">
                <a:tc>
                  <a:txBody>
                    <a:bodyPr wrap="square"/>
                    <a:lstStyle/>
                    <a:p>
                      <a:pPr algn="l"/>
                      <a:r>
                        <a:rPr sz="900" b="0">
                          <a:solidFill>
                            <a:srgbClr val="202124"/>
                          </a:solidFill>
                          <a:latin typeface="Arial"/>
                        </a:rPr>
                        <a:t>Gemini (Vertex AI)</a:t>
                      </a:r>
                    </a:p>
                  </a:txBody>
                  <a:tcPr marL="73152" marR="73152" marT="27432" marB="27432" anchor="ctr">
                    <a:solidFill>
                      <a:srgbClr val="F8F9FA"/>
                    </a:solidFill>
                  </a:tcPr>
                </a:tc>
                <a:tc>
                  <a:txBody>
                    <a:bodyPr wrap="square"/>
                    <a:lstStyle/>
                    <a:p>
                      <a:pPr algn="l"/>
                      <a:r>
                        <a:rPr sz="900" b="0">
                          <a:solidFill>
                            <a:srgbClr val="202124"/>
                          </a:solidFill>
                          <a:latin typeface="Arial"/>
                        </a:rPr>
                        <a:t>Pay per token; see cost per prompt →</a:t>
                      </a:r>
                    </a:p>
                  </a:txBody>
                  <a:tcPr marL="73152" marR="73152" marT="27432" marB="27432" anchor="ctr">
                    <a:solidFill>
                      <a:srgbClr val="F8F9FA"/>
                    </a:solidFill>
                  </a:tcPr>
                </a:tc>
                <a:tc>
                  <a:txBody>
                    <a:bodyPr wrap="square"/>
                    <a:lstStyle/>
                    <a:p>
                      <a:pPr algn="r"/>
                      <a:r>
                        <a:rPr sz="900" b="0">
                          <a:solidFill>
                            <a:srgbClr val="202124"/>
                          </a:solidFill>
                          <a:latin typeface="Arial"/>
                        </a:rPr>
                        <a:t>usage-based</a:t>
                      </a:r>
                    </a:p>
                  </a:txBody>
                  <a:tcPr marL="73152" marR="73152" marT="27432" marB="27432" anchor="ctr">
                    <a:solidFill>
                      <a:srgbClr val="F8F9FA"/>
                    </a:solidFill>
                  </a:tcPr>
                </a:tc>
              </a:tr>
              <a:tr h="365760">
                <a:tc>
                  <a:txBody>
                    <a:bodyPr wrap="square"/>
                    <a:lstStyle/>
                    <a:p>
                      <a:pPr algn="l"/>
                      <a:r>
                        <a:rPr sz="900" b="0">
                          <a:solidFill>
                            <a:srgbClr val="202124"/>
                          </a:solidFill>
                          <a:latin typeface="Arial"/>
                        </a:rPr>
                        <a:t>Firestore · Hosting · Pub/Sub</a:t>
                      </a:r>
                    </a:p>
                  </a:txBody>
                  <a:tcPr marL="73152" marR="73152" marT="27432" marB="27432" anchor="ctr">
                    <a:solidFill>
                      <a:srgbClr val="FFFFFF"/>
                    </a:solidFill>
                  </a:tcPr>
                </a:tc>
                <a:tc>
                  <a:txBody>
                    <a:bodyPr wrap="square"/>
                    <a:lstStyle/>
                    <a:p>
                      <a:pPr algn="l"/>
                      <a:r>
                        <a:rPr sz="900" b="0">
                          <a:solidFill>
                            <a:srgbClr val="202124"/>
                          </a:solidFill>
                          <a:latin typeface="Arial"/>
                        </a:rPr>
                        <a:t>Within free tiers at prototype scale</a:t>
                      </a:r>
                    </a:p>
                  </a:txBody>
                  <a:tcPr marL="73152" marR="73152" marT="27432" marB="27432" anchor="ctr">
                    <a:solidFill>
                      <a:srgbClr val="FFFFFF"/>
                    </a:solidFill>
                  </a:tcPr>
                </a:tc>
                <a:tc>
                  <a:txBody>
                    <a:bodyPr wrap="square"/>
                    <a:lstStyle/>
                    <a:p>
                      <a:pPr algn="r"/>
                      <a:r>
                        <a:rPr sz="900" b="0">
                          <a:solidFill>
                            <a:srgbClr val="202124"/>
                          </a:solidFill>
                          <a:latin typeface="Arial"/>
                        </a:rPr>
                        <a:t>$0</a:t>
                      </a:r>
                    </a:p>
                  </a:txBody>
                  <a:tcPr marL="73152" marR="73152" marT="27432" marB="27432" anchor="ctr">
                    <a:solidFill>
                      <a:srgbClr val="FFFFFF"/>
                    </a:solidFill>
                  </a:tcPr>
                </a:tc>
              </a:tr>
              <a:tr h="365760">
                <a:tc>
                  <a:txBody>
                    <a:bodyPr wrap="square"/>
                    <a:lstStyle/>
                    <a:p>
                      <a:pPr algn="l"/>
                      <a:r>
                        <a:rPr sz="900" b="0">
                          <a:solidFill>
                            <a:srgbClr val="202124"/>
                          </a:solidFill>
                          <a:latin typeface="Arial"/>
                        </a:rPr>
                        <a:t>BigQuery + Cloud Storage</a:t>
                      </a:r>
                    </a:p>
                  </a:txBody>
                  <a:tcPr marL="73152" marR="73152" marT="27432" marB="27432" anchor="ctr">
                    <a:solidFill>
                      <a:srgbClr val="F8F9FA"/>
                    </a:solidFill>
                  </a:tcPr>
                </a:tc>
                <a:tc>
                  <a:txBody>
                    <a:bodyPr wrap="square"/>
                    <a:lstStyle/>
                    <a:p>
                      <a:pPr algn="l"/>
                      <a:r>
                        <a:rPr sz="900" b="0">
                          <a:solidFill>
                            <a:srgbClr val="202124"/>
                          </a:solidFill>
                          <a:latin typeface="Arial"/>
                        </a:rPr>
                        <a:t>≈1.5 GB stored; queries in the 1 TB free tier</a:t>
                      </a:r>
                    </a:p>
                  </a:txBody>
                  <a:tcPr marL="73152" marR="73152" marT="27432" marB="27432" anchor="ctr">
                    <a:solidFill>
                      <a:srgbClr val="F8F9FA"/>
                    </a:solidFill>
                  </a:tcPr>
                </a:tc>
                <a:tc>
                  <a:txBody>
                    <a:bodyPr wrap="square"/>
                    <a:lstStyle/>
                    <a:p>
                      <a:pPr algn="r"/>
                      <a:r>
                        <a:rPr sz="900" b="0">
                          <a:solidFill>
                            <a:srgbClr val="202124"/>
                          </a:solidFill>
                          <a:latin typeface="Arial"/>
                        </a:rPr>
                        <a:t>&lt; $1</a:t>
                      </a:r>
                    </a:p>
                  </a:txBody>
                  <a:tcPr marL="73152" marR="73152" marT="27432" marB="27432" anchor="ctr">
                    <a:solidFill>
                      <a:srgbClr val="F8F9FA"/>
                    </a:solidFill>
                  </a:tcPr>
                </a:tc>
              </a:tr>
              <a:tr h="365760">
                <a:tc>
                  <a:txBody>
                    <a:bodyPr wrap="square"/>
                    <a:lstStyle/>
                    <a:p>
                      <a:pPr algn="l"/>
                      <a:r>
                        <a:rPr sz="900" b="0">
                          <a:solidFill>
                            <a:srgbClr val="202124"/>
                          </a:solidFill>
                          <a:latin typeface="Arial"/>
                        </a:rPr>
                        <a:t>One-time setup</a:t>
                      </a:r>
                    </a:p>
                  </a:txBody>
                  <a:tcPr marL="73152" marR="73152" marT="27432" marB="27432" anchor="ctr">
                    <a:solidFill>
                      <a:srgbClr val="FFFFFF"/>
                    </a:solidFill>
                  </a:tcPr>
                </a:tc>
                <a:tc>
                  <a:txBody>
                    <a:bodyPr wrap="square"/>
                    <a:lstStyle/>
                    <a:p>
                      <a:pPr algn="l"/>
                      <a:r>
                        <a:rPr sz="900" b="0">
                          <a:solidFill>
                            <a:srgbClr val="202124"/>
                          </a:solidFill>
                          <a:latin typeface="Arial"/>
                        </a:rPr>
                        <a:t>Data load + BigQuery ML training</a:t>
                      </a:r>
                    </a:p>
                  </a:txBody>
                  <a:tcPr marL="73152" marR="73152" marT="27432" marB="27432" anchor="ctr">
                    <a:solidFill>
                      <a:srgbClr val="FFFFFF"/>
                    </a:solidFill>
                  </a:tcPr>
                </a:tc>
                <a:tc>
                  <a:txBody>
                    <a:bodyPr wrap="square"/>
                    <a:lstStyle/>
                    <a:p>
                      <a:pPr algn="r"/>
                      <a:r>
                        <a:rPr sz="900" b="0">
                          <a:solidFill>
                            <a:srgbClr val="202124"/>
                          </a:solidFill>
                          <a:latin typeface="Arial"/>
                        </a:rPr>
                        <a:t>&lt; $5 once</a:t>
                      </a:r>
                    </a:p>
                  </a:txBody>
                  <a:tcPr marL="73152" marR="73152" marT="27432" marB="27432" anchor="ctr">
                    <a:solidFill>
                      <a:srgbClr val="FFFFFF"/>
                    </a:solidFill>
                  </a:tcPr>
                </a:tc>
              </a:tr>
              <a:tr h="365760">
                <a:tc>
                  <a:txBody>
                    <a:bodyPr wrap="square"/>
                    <a:lstStyle/>
                    <a:p>
                      <a:pPr algn="l"/>
                      <a:r>
                        <a:rPr sz="900" b="1">
                          <a:solidFill>
                            <a:srgbClr val="202124"/>
                          </a:solidFill>
                          <a:latin typeface="Arial"/>
                        </a:rPr>
                        <a:t>Total</a:t>
                      </a:r>
                    </a:p>
                  </a:txBody>
                  <a:tcPr marL="73152" marR="73152" marT="27432" marB="27432" anchor="ctr">
                    <a:solidFill>
                      <a:srgbClr val="E6F4EA"/>
                    </a:solidFill>
                  </a:tcPr>
                </a:tc>
                <a:tc>
                  <a:txBody>
                    <a:bodyPr wrap="square"/>
                    <a:lstStyle/>
                    <a:p>
                      <a:pPr algn="l"/>
                      <a:r>
                        <a:rPr sz="900" b="0">
                          <a:solidFill>
                            <a:srgbClr val="202124"/>
                          </a:solidFill>
                          <a:latin typeface="Arial"/>
                        </a:rPr>
                        <a:t>Fixed cost to keep the prototype live</a:t>
                      </a:r>
                    </a:p>
                  </a:txBody>
                  <a:tcPr marL="73152" marR="73152" marT="27432" marB="27432" anchor="ctr">
                    <a:solidFill>
                      <a:srgbClr val="E6F4EA"/>
                    </a:solidFill>
                  </a:tcPr>
                </a:tc>
                <a:tc>
                  <a:txBody>
                    <a:bodyPr wrap="square"/>
                    <a:lstStyle/>
                    <a:p>
                      <a:pPr algn="r"/>
                      <a:r>
                        <a:rPr sz="900" b="1">
                          <a:solidFill>
                            <a:srgbClr val="202124"/>
                          </a:solidFill>
                          <a:latin typeface="Arial"/>
                        </a:rPr>
                        <a:t>≈ $15–20 + usage</a:t>
                      </a:r>
                    </a:p>
                  </a:txBody>
                  <a:tcPr marL="73152" marR="73152" marT="27432" marB="27432" anchor="ctr">
                    <a:solidFill>
                      <a:srgbClr val="E6F4EA"/>
                    </a:solidFill>
                  </a:tcPr>
                </a:tc>
              </a:tr>
            </a:tbl>
          </a:graphicData>
        </a:graphic>
      </p:graphicFrame>
      <p:sp>
        <p:nvSpPr>
          <p:cNvPr id="130" name="TextBox 129"/>
          <p:cNvSpPr txBox="1"/>
          <p:nvPr/>
        </p:nvSpPr>
        <p:spPr>
          <a:xfrm>
            <a:off x="5486400" y="1261872"/>
            <a:ext cx="3291840" cy="228600"/>
          </a:xfrm>
          <a:prstGeom prst="rect">
            <a:avLst/>
          </a:prstGeom>
          <a:noFill/>
        </p:spPr>
        <p:txBody>
          <a:bodyPr wrap="square" lIns="0" rIns="0" tIns="0" bIns="0" anchor="t"/>
          <a:lstStyle/>
          <a:p>
            <a:pPr algn="l"/>
            <a:r>
              <a:rPr sz="1100" b="1" i="0">
                <a:solidFill>
                  <a:srgbClr val="202124"/>
                </a:solidFill>
                <a:latin typeface="Arial"/>
              </a:rPr>
              <a:t>Cost per prompt (real token counts)</a:t>
            </a:r>
          </a:p>
        </p:txBody>
      </p:sp>
      <p:sp>
        <p:nvSpPr>
          <p:cNvPr id="131" name="Rounded Rectangle 130"/>
          <p:cNvSpPr/>
          <p:nvPr/>
        </p:nvSpPr>
        <p:spPr>
          <a:xfrm>
            <a:off x="5486400" y="1554480"/>
            <a:ext cx="3291840" cy="566928"/>
          </a:xfrm>
          <a:prstGeom prst="roundRect">
            <a:avLst>
              <a:gd name="adj" fmla="val 1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5623560" y="1627632"/>
            <a:ext cx="2011680" cy="201168"/>
          </a:xfrm>
          <a:prstGeom prst="rect">
            <a:avLst/>
          </a:prstGeom>
          <a:noFill/>
        </p:spPr>
        <p:txBody>
          <a:bodyPr wrap="square" lIns="0" rIns="0" tIns="0" bIns="0" anchor="t"/>
          <a:lstStyle/>
          <a:p>
            <a:pPr algn="l"/>
            <a:r>
              <a:rPr sz="1050" b="1" i="0">
                <a:solidFill>
                  <a:srgbClr val="188038"/>
                </a:solidFill>
                <a:latin typeface="Arial"/>
              </a:rPr>
              <a:t>Flash-Lite</a:t>
            </a:r>
          </a:p>
        </p:txBody>
      </p:sp>
      <p:sp>
        <p:nvSpPr>
          <p:cNvPr id="133" name="TextBox 132"/>
          <p:cNvSpPr txBox="1"/>
          <p:nvPr/>
        </p:nvSpPr>
        <p:spPr>
          <a:xfrm>
            <a:off x="5623560" y="1847088"/>
            <a:ext cx="2194560" cy="228600"/>
          </a:xfrm>
          <a:prstGeom prst="rect">
            <a:avLst/>
          </a:prstGeom>
          <a:noFill/>
        </p:spPr>
        <p:txBody>
          <a:bodyPr wrap="square" lIns="0" rIns="0" tIns="0" bIns="0" anchor="t"/>
          <a:lstStyle/>
          <a:p>
            <a:pPr algn="l"/>
            <a:r>
              <a:rPr sz="850" b="0" i="0">
                <a:solidFill>
                  <a:srgbClr val="202124"/>
                </a:solidFill>
                <a:latin typeface="Arial"/>
              </a:rPr>
              <a:t>Polite email · 12 in / 209 out tokens</a:t>
            </a:r>
          </a:p>
        </p:txBody>
      </p:sp>
      <p:sp>
        <p:nvSpPr>
          <p:cNvPr id="134" name="TextBox 133"/>
          <p:cNvSpPr txBox="1"/>
          <p:nvPr/>
        </p:nvSpPr>
        <p:spPr>
          <a:xfrm>
            <a:off x="7498079" y="1627632"/>
            <a:ext cx="1170432" cy="420624"/>
          </a:xfrm>
          <a:prstGeom prst="rect">
            <a:avLst/>
          </a:prstGeom>
          <a:noFill/>
        </p:spPr>
        <p:txBody>
          <a:bodyPr wrap="square" lIns="0" rIns="0" tIns="0" bIns="0" anchor="ctr"/>
          <a:lstStyle/>
          <a:p>
            <a:pPr algn="r"/>
            <a:r>
              <a:rPr sz="1400" b="1" i="0">
                <a:solidFill>
                  <a:srgbClr val="188038"/>
                </a:solidFill>
                <a:latin typeface="Arial"/>
              </a:rPr>
              <a:t>≈ $0.0001</a:t>
            </a:r>
          </a:p>
        </p:txBody>
      </p:sp>
      <p:sp>
        <p:nvSpPr>
          <p:cNvPr id="135" name="Rounded Rectangle 134"/>
          <p:cNvSpPr/>
          <p:nvPr/>
        </p:nvSpPr>
        <p:spPr>
          <a:xfrm>
            <a:off x="5486400" y="2194560"/>
            <a:ext cx="3291840" cy="566928"/>
          </a:xfrm>
          <a:prstGeom prst="roundRect">
            <a:avLst>
              <a:gd name="adj" fmla="val 10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5623560" y="2267712"/>
            <a:ext cx="2011680" cy="201168"/>
          </a:xfrm>
          <a:prstGeom prst="rect">
            <a:avLst/>
          </a:prstGeom>
          <a:noFill/>
        </p:spPr>
        <p:txBody>
          <a:bodyPr wrap="square" lIns="0" rIns="0" tIns="0" bIns="0" anchor="t"/>
          <a:lstStyle/>
          <a:p>
            <a:pPr algn="l"/>
            <a:r>
              <a:rPr sz="1050" b="1" i="0">
                <a:solidFill>
                  <a:srgbClr val="1A73E8"/>
                </a:solidFill>
                <a:latin typeface="Arial"/>
              </a:rPr>
              <a:t>Flash</a:t>
            </a:r>
          </a:p>
        </p:txBody>
      </p:sp>
      <p:sp>
        <p:nvSpPr>
          <p:cNvPr id="137" name="TextBox 136"/>
          <p:cNvSpPr txBox="1"/>
          <p:nvPr/>
        </p:nvSpPr>
        <p:spPr>
          <a:xfrm>
            <a:off x="5623560" y="2487168"/>
            <a:ext cx="2194560" cy="228600"/>
          </a:xfrm>
          <a:prstGeom prst="rect">
            <a:avLst/>
          </a:prstGeom>
          <a:noFill/>
        </p:spPr>
        <p:txBody>
          <a:bodyPr wrap="square" lIns="0" rIns="0" tIns="0" bIns="0" anchor="t"/>
          <a:lstStyle/>
          <a:p>
            <a:pPr algn="l"/>
            <a:r>
              <a:rPr sz="850" b="0" i="0">
                <a:solidFill>
                  <a:srgbClr val="202124"/>
                </a:solidFill>
                <a:latin typeface="Arial"/>
              </a:rPr>
              <a:t>Goa itinerary · 9 in / 2,044 out</a:t>
            </a:r>
          </a:p>
        </p:txBody>
      </p:sp>
      <p:sp>
        <p:nvSpPr>
          <p:cNvPr id="138" name="TextBox 137"/>
          <p:cNvSpPr txBox="1"/>
          <p:nvPr/>
        </p:nvSpPr>
        <p:spPr>
          <a:xfrm>
            <a:off x="7498079" y="2267712"/>
            <a:ext cx="1170432" cy="420624"/>
          </a:xfrm>
          <a:prstGeom prst="rect">
            <a:avLst/>
          </a:prstGeom>
          <a:noFill/>
        </p:spPr>
        <p:txBody>
          <a:bodyPr wrap="square" lIns="0" rIns="0" tIns="0" bIns="0" anchor="ctr"/>
          <a:lstStyle/>
          <a:p>
            <a:pPr algn="r"/>
            <a:r>
              <a:rPr sz="1400" b="1" i="0">
                <a:solidFill>
                  <a:srgbClr val="1A73E8"/>
                </a:solidFill>
                <a:latin typeface="Arial"/>
              </a:rPr>
              <a:t>≈ $0.005</a:t>
            </a:r>
          </a:p>
        </p:txBody>
      </p:sp>
      <p:sp>
        <p:nvSpPr>
          <p:cNvPr id="139" name="Rounded Rectangle 138"/>
          <p:cNvSpPr/>
          <p:nvPr/>
        </p:nvSpPr>
        <p:spPr>
          <a:xfrm>
            <a:off x="5486400" y="2834639"/>
            <a:ext cx="3291840" cy="566928"/>
          </a:xfrm>
          <a:prstGeom prst="roundRect">
            <a:avLst>
              <a:gd name="adj" fmla="val 10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5623560" y="2907791"/>
            <a:ext cx="2011680" cy="201168"/>
          </a:xfrm>
          <a:prstGeom prst="rect">
            <a:avLst/>
          </a:prstGeom>
          <a:noFill/>
        </p:spPr>
        <p:txBody>
          <a:bodyPr wrap="square" lIns="0" rIns="0" tIns="0" bIns="0" anchor="t"/>
          <a:lstStyle/>
          <a:p>
            <a:pPr algn="l"/>
            <a:r>
              <a:rPr sz="1050" b="1" i="0">
                <a:solidFill>
                  <a:srgbClr val="D93025"/>
                </a:solidFill>
                <a:latin typeface="Arial"/>
              </a:rPr>
              <a:t>Pro</a:t>
            </a:r>
          </a:p>
        </p:txBody>
      </p:sp>
      <p:sp>
        <p:nvSpPr>
          <p:cNvPr id="141" name="TextBox 140"/>
          <p:cNvSpPr txBox="1"/>
          <p:nvPr/>
        </p:nvSpPr>
        <p:spPr>
          <a:xfrm>
            <a:off x="5623560" y="3127247"/>
            <a:ext cx="2194560" cy="228600"/>
          </a:xfrm>
          <a:prstGeom prst="rect">
            <a:avLst/>
          </a:prstGeom>
          <a:noFill/>
        </p:spPr>
        <p:txBody>
          <a:bodyPr wrap="square" lIns="0" rIns="0" tIns="0" bIns="0" anchor="t"/>
          <a:lstStyle/>
          <a:p>
            <a:pPr algn="l"/>
            <a:r>
              <a:rPr sz="850" b="0" i="0">
                <a:solidFill>
                  <a:srgbClr val="202124"/>
                </a:solidFill>
                <a:latin typeface="Arial"/>
              </a:rPr>
              <a:t>Payment-ledger design · 31 in / 2,044 out</a:t>
            </a:r>
          </a:p>
        </p:txBody>
      </p:sp>
      <p:sp>
        <p:nvSpPr>
          <p:cNvPr id="142" name="TextBox 141"/>
          <p:cNvSpPr txBox="1"/>
          <p:nvPr/>
        </p:nvSpPr>
        <p:spPr>
          <a:xfrm>
            <a:off x="7498079" y="2907791"/>
            <a:ext cx="1170432" cy="420624"/>
          </a:xfrm>
          <a:prstGeom prst="rect">
            <a:avLst/>
          </a:prstGeom>
          <a:noFill/>
        </p:spPr>
        <p:txBody>
          <a:bodyPr wrap="square" lIns="0" rIns="0" tIns="0" bIns="0" anchor="ctr"/>
          <a:lstStyle/>
          <a:p>
            <a:pPr algn="r"/>
            <a:r>
              <a:rPr sz="1400" b="1" i="0">
                <a:solidFill>
                  <a:srgbClr val="D93025"/>
                </a:solidFill>
                <a:latin typeface="Arial"/>
              </a:rPr>
              <a:t>≈ $0.02</a:t>
            </a:r>
          </a:p>
        </p:txBody>
      </p:sp>
      <p:sp>
        <p:nvSpPr>
          <p:cNvPr id="143" name="Rounded Rectangle 142"/>
          <p:cNvSpPr/>
          <p:nvPr/>
        </p:nvSpPr>
        <p:spPr>
          <a:xfrm>
            <a:off x="5486400" y="3511296"/>
            <a:ext cx="3291840" cy="786384"/>
          </a:xfrm>
          <a:prstGeom prst="roundRect">
            <a:avLst>
              <a:gd name="adj" fmla="val 8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Oval 143"/>
          <p:cNvSpPr/>
          <p:nvPr/>
        </p:nvSpPr>
        <p:spPr>
          <a:xfrm>
            <a:off x="5596128" y="3639312"/>
            <a:ext cx="365760" cy="36576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5" name="Picture 144" descr="MdSavings.png"/>
          <p:cNvPicPr>
            <a:picLocks noChangeAspect="1"/>
          </p:cNvPicPr>
          <p:nvPr/>
        </p:nvPicPr>
        <p:blipFill>
          <a:blip r:embed="rId5"/>
          <a:stretch>
            <a:fillRect/>
          </a:stretch>
        </p:blipFill>
        <p:spPr>
          <a:xfrm>
            <a:off x="5676595" y="3719779"/>
            <a:ext cx="204825" cy="204825"/>
          </a:xfrm>
          <a:prstGeom prst="rect">
            <a:avLst/>
          </a:prstGeom>
        </p:spPr>
      </p:pic>
      <p:sp>
        <p:nvSpPr>
          <p:cNvPr id="146" name="TextBox 145"/>
          <p:cNvSpPr txBox="1"/>
          <p:nvPr/>
        </p:nvSpPr>
        <p:spPr>
          <a:xfrm>
            <a:off x="6080760" y="3584448"/>
            <a:ext cx="2606040" cy="685800"/>
          </a:xfrm>
          <a:prstGeom prst="rect">
            <a:avLst/>
          </a:prstGeom>
          <a:noFill/>
        </p:spPr>
        <p:txBody>
          <a:bodyPr wrap="square" lIns="0" rIns="0" tIns="0" bIns="0" anchor="t"/>
          <a:lstStyle/>
          <a:p>
            <a:pPr algn="l"/>
            <a:r>
              <a:rPr sz="1050" b="1" i="0">
                <a:solidFill>
                  <a:srgbClr val="188038"/>
                </a:solidFill>
                <a:latin typeface="Arial"/>
              </a:rPr>
              <a:t>Greener is cheaper</a:t>
            </a:r>
          </a:p>
          <a:p>
            <a:pPr algn="l"/>
            <a:r>
              <a:rPr sz="850" b="0" i="0">
                <a:solidFill>
                  <a:srgbClr val="202124"/>
                </a:solidFill>
                <a:latin typeface="Arial"/>
              </a:rPr>
              <a:t>Flash-Lite output costs $0.40 vs Pro $10 per 1M tokens, so right-sizing cuts the bill about 25× along with CO₂.</a:t>
            </a:r>
          </a:p>
        </p:txBody>
      </p:sp>
      <p:sp>
        <p:nvSpPr>
          <p:cNvPr id="147" name="TextBox 146"/>
          <p:cNvSpPr txBox="1"/>
          <p:nvPr/>
        </p:nvSpPr>
        <p:spPr>
          <a:xfrm>
            <a:off x="365760" y="4498848"/>
            <a:ext cx="8412480" cy="384048"/>
          </a:xfrm>
          <a:prstGeom prst="rect">
            <a:avLst/>
          </a:prstGeom>
          <a:noFill/>
        </p:spPr>
        <p:txBody>
          <a:bodyPr wrap="square" lIns="0" rIns="0" tIns="0" bIns="0" anchor="t"/>
          <a:lstStyle/>
          <a:p>
            <a:pPr algn="l"/>
            <a:r>
              <a:rPr sz="800" b="0" i="0">
                <a:solidFill>
                  <a:srgbClr val="5F6368"/>
                </a:solidFill>
                <a:latin typeface="Arial"/>
              </a:rPr>
              <a:t>Estimates at USD list prices: Vertex AI Gemini 2.5 per-token rates and Cloud Run Tier 1 idle min-instance rates; asia-south1 may differ. The triage call adds ≈ $0.00005 per prompt. Actual spend is visible in Billing → Reports.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app_hero_fixed.png"/>
          <p:cNvPicPr>
            <a:picLocks noChangeAspect="1"/>
          </p:cNvPicPr>
          <p:nvPr/>
        </p:nvPicPr>
        <p:blipFill>
          <a:blip r:embed="rId5"/>
          <a:stretch>
            <a:fillRect/>
          </a:stretch>
        </p:blipFill>
        <p:spPr>
          <a:xfrm>
            <a:off x="365760" y="1261872"/>
            <a:ext cx="4023360" cy="1572768"/>
          </a:xfrm>
          <a:prstGeom prst="rect">
            <a:avLst/>
          </a:prstGeom>
          <a:ln w="9525">
            <a:solidFill>
              <a:srgbClr val="DADCE0"/>
            </a:solidFill>
          </a:ln>
        </p:spPr>
      </p:pic>
      <p:sp>
        <p:nvSpPr>
          <p:cNvPr id="137" name="TextBox 136"/>
          <p:cNvSpPr txBox="1"/>
          <p:nvPr/>
        </p:nvSpPr>
        <p:spPr>
          <a:xfrm>
            <a:off x="365760" y="2880359"/>
            <a:ext cx="4023360" cy="201168"/>
          </a:xfrm>
          <a:prstGeom prst="rect">
            <a:avLst/>
          </a:prstGeom>
          <a:noFill/>
        </p:spPr>
        <p:txBody>
          <a:bodyPr wrap="square" lIns="0" rIns="0" tIns="0" bIns="0" anchor="t"/>
          <a:lstStyle/>
          <a:p>
            <a:pPr algn="l"/>
            <a:r>
              <a:rPr sz="900" b="1" i="0">
                <a:solidFill>
                  <a:srgbClr val="188038"/>
                </a:solidFill>
                <a:latin typeface="Arial"/>
              </a:rPr>
              <a:t>1  </a:t>
            </a:r>
            <a:r>
              <a:rPr sz="900" b="0" i="0">
                <a:solidFill>
                  <a:srgbClr val="202124"/>
                </a:solidFill>
                <a:latin typeface="Arial"/>
              </a:rPr>
              <a:t>Landing: the three decisions and the grid-carbon globe</a:t>
            </a:r>
          </a:p>
        </p:txBody>
      </p:sp>
      <p:pic>
        <p:nvPicPr>
          <p:cNvPr id="138" name="Picture 137" descr="app_router_fixed.png"/>
          <p:cNvPicPr>
            <a:picLocks noChangeAspect="1"/>
          </p:cNvPicPr>
          <p:nvPr/>
        </p:nvPicPr>
        <p:blipFill>
          <a:blip r:embed="rId6"/>
          <a:stretch>
            <a:fillRect/>
          </a:stretch>
        </p:blipFill>
        <p:spPr>
          <a:xfrm>
            <a:off x="4754880" y="1261872"/>
            <a:ext cx="4023360" cy="1572768"/>
          </a:xfrm>
          <a:prstGeom prst="rect">
            <a:avLst/>
          </a:prstGeom>
          <a:ln w="9525">
            <a:solidFill>
              <a:srgbClr val="DADCE0"/>
            </a:solidFill>
          </a:ln>
        </p:spPr>
      </p:pic>
      <p:sp>
        <p:nvSpPr>
          <p:cNvPr id="139" name="TextBox 138"/>
          <p:cNvSpPr txBox="1"/>
          <p:nvPr/>
        </p:nvSpPr>
        <p:spPr>
          <a:xfrm>
            <a:off x="4754880" y="2880359"/>
            <a:ext cx="4023360" cy="201168"/>
          </a:xfrm>
          <a:prstGeom prst="rect">
            <a:avLst/>
          </a:prstGeom>
          <a:noFill/>
        </p:spPr>
        <p:txBody>
          <a:bodyPr wrap="square" lIns="0" rIns="0" tIns="0" bIns="0" anchor="t"/>
          <a:lstStyle/>
          <a:p>
            <a:pPr algn="l"/>
            <a:r>
              <a:rPr sz="900" b="1" i="0">
                <a:solidFill>
                  <a:srgbClr val="188038"/>
                </a:solidFill>
                <a:latin typeface="Arial"/>
              </a:rPr>
              <a:t>2  </a:t>
            </a:r>
            <a:r>
              <a:rPr sz="900" b="0" i="0">
                <a:solidFill>
                  <a:srgbClr val="202124"/>
                </a:solidFill>
                <a:latin typeface="Arial"/>
              </a:rPr>
              <a:t>Router controls and the live grid-carbon chart</a:t>
            </a:r>
          </a:p>
        </p:txBody>
      </p:sp>
      <p:pic>
        <p:nvPicPr>
          <p:cNvPr id="140" name="Picture 139" descr="app_fleet_fixed.png"/>
          <p:cNvPicPr>
            <a:picLocks noChangeAspect="1"/>
          </p:cNvPicPr>
          <p:nvPr/>
        </p:nvPicPr>
        <p:blipFill>
          <a:blip r:embed="rId7"/>
          <a:stretch>
            <a:fillRect/>
          </a:stretch>
        </p:blipFill>
        <p:spPr>
          <a:xfrm>
            <a:off x="365760" y="3145536"/>
            <a:ext cx="4023360" cy="1572768"/>
          </a:xfrm>
          <a:prstGeom prst="rect">
            <a:avLst/>
          </a:prstGeom>
          <a:ln w="9525">
            <a:solidFill>
              <a:srgbClr val="DADCE0"/>
            </a:solidFill>
          </a:ln>
        </p:spPr>
      </p:pic>
      <p:sp>
        <p:nvSpPr>
          <p:cNvPr id="141" name="TextBox 140"/>
          <p:cNvSpPr txBox="1"/>
          <p:nvPr/>
        </p:nvSpPr>
        <p:spPr>
          <a:xfrm>
            <a:off x="365760" y="4764024"/>
            <a:ext cx="4023360" cy="201168"/>
          </a:xfrm>
          <a:prstGeom prst="rect">
            <a:avLst/>
          </a:prstGeom>
          <a:noFill/>
        </p:spPr>
        <p:txBody>
          <a:bodyPr wrap="square" lIns="0" rIns="0" tIns="0" bIns="0" anchor="t"/>
          <a:lstStyle/>
          <a:p>
            <a:pPr algn="l"/>
            <a:r>
              <a:rPr sz="900" b="1" i="0">
                <a:solidFill>
                  <a:srgbClr val="188038"/>
                </a:solidFill>
                <a:latin typeface="Arial"/>
              </a:rPr>
              <a:t>3  </a:t>
            </a:r>
            <a:r>
              <a:rPr sz="900" b="0" i="0">
                <a:solidFill>
                  <a:srgbClr val="202124"/>
                </a:solidFill>
                <a:latin typeface="Arial"/>
              </a:rPr>
              <a:t>Fleet replay (−96.9%, 27.3M requests) and demand forecast</a:t>
            </a:r>
          </a:p>
        </p:txBody>
      </p:sp>
      <p:pic>
        <p:nvPicPr>
          <p:cNvPr id="142" name="Picture 141" descr="app_ledger_fixed.png"/>
          <p:cNvPicPr>
            <a:picLocks noChangeAspect="1"/>
          </p:cNvPicPr>
          <p:nvPr/>
        </p:nvPicPr>
        <p:blipFill>
          <a:blip r:embed="rId8"/>
          <a:stretch>
            <a:fillRect/>
          </a:stretch>
        </p:blipFill>
        <p:spPr>
          <a:xfrm>
            <a:off x="4754880" y="3145536"/>
            <a:ext cx="4023360" cy="1572768"/>
          </a:xfrm>
          <a:prstGeom prst="rect">
            <a:avLst/>
          </a:prstGeom>
          <a:ln w="9525">
            <a:solidFill>
              <a:srgbClr val="DADCE0"/>
            </a:solidFill>
          </a:ln>
        </p:spPr>
      </p:pic>
      <p:sp>
        <p:nvSpPr>
          <p:cNvPr id="143" name="TextBox 142"/>
          <p:cNvSpPr txBox="1"/>
          <p:nvPr/>
        </p:nvSpPr>
        <p:spPr>
          <a:xfrm>
            <a:off x="4754880" y="4764024"/>
            <a:ext cx="4023360" cy="201168"/>
          </a:xfrm>
          <a:prstGeom prst="rect">
            <a:avLst/>
          </a:prstGeom>
          <a:noFill/>
        </p:spPr>
        <p:txBody>
          <a:bodyPr wrap="square" lIns="0" rIns="0" tIns="0" bIns="0" anchor="t"/>
          <a:lstStyle/>
          <a:p>
            <a:pPr algn="l"/>
            <a:r>
              <a:rPr sz="900" b="1" i="0">
                <a:solidFill>
                  <a:srgbClr val="188038"/>
                </a:solidFill>
                <a:latin typeface="Arial"/>
              </a:rPr>
              <a:t>4  </a:t>
            </a:r>
            <a:r>
              <a:rPr sz="900" b="0" i="0">
                <a:solidFill>
                  <a:srgbClr val="202124"/>
                </a:solidFill>
                <a:latin typeface="Arial"/>
              </a:rPr>
              <a:t>Live Firestore ledger and the Gemini sustainability analyst</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65760" y="1261872"/>
            <a:ext cx="4114800" cy="228600"/>
          </a:xfrm>
          <a:prstGeom prst="rect">
            <a:avLst/>
          </a:prstGeom>
          <a:noFill/>
        </p:spPr>
        <p:txBody>
          <a:bodyPr wrap="square" lIns="0" rIns="0" tIns="0" bIns="0" anchor="t"/>
          <a:lstStyle/>
          <a:p>
            <a:pPr algn="l"/>
            <a:r>
              <a:rPr sz="1100" b="1" i="0">
                <a:solidFill>
                  <a:srgbClr val="202124"/>
                </a:solidFill>
                <a:latin typeface="Arial"/>
              </a:rPr>
              <a:t>Fleet replay: 1 week of real Azure LLM traffic</a:t>
            </a:r>
          </a:p>
        </p:txBody>
      </p:sp>
      <p:sp>
        <p:nvSpPr>
          <p:cNvPr id="145" name="TextBox 144"/>
          <p:cNvSpPr txBox="1"/>
          <p:nvPr/>
        </p:nvSpPr>
        <p:spPr>
          <a:xfrm>
            <a:off x="365760" y="1481328"/>
            <a:ext cx="4114800" cy="182880"/>
          </a:xfrm>
          <a:prstGeom prst="rect">
            <a:avLst/>
          </a:prstGeom>
          <a:noFill/>
        </p:spPr>
        <p:txBody>
          <a:bodyPr wrap="square" lIns="0" rIns="0" tIns="0" bIns="0" anchor="t"/>
          <a:lstStyle/>
          <a:p>
            <a:pPr algn="l"/>
            <a:r>
              <a:rPr sz="850" b="0" i="0">
                <a:solidFill>
                  <a:srgbClr val="5F6368"/>
                </a:solidFill>
                <a:latin typeface="Arial"/>
              </a:rPr>
              <a:t>kg CO₂ for 27.3M requests (DynamoLLM trace, replayed in BigQuery)</a:t>
            </a:r>
          </a:p>
        </p:txBody>
      </p:sp>
      <p:graphicFrame>
        <p:nvGraphicFramePr>
          <p:cNvPr id="146" name="Chart 145"/>
          <p:cNvGraphicFramePr>
            <a:graphicFrameLocks noGrp="1"/>
          </p:cNvGraphicFramePr>
          <p:nvPr/>
        </p:nvGraphicFramePr>
        <p:xfrm>
          <a:off x="365760" y="1691640"/>
          <a:ext cx="4114800" cy="1828800"/>
        </p:xfrm>
        <a:graphic>
          <a:graphicData uri="http://schemas.openxmlformats.org/drawingml/2006/chart">
            <c:chart r:id="rId5"/>
          </a:graphicData>
        </a:graphic>
      </p:graphicFrame>
      <p:sp>
        <p:nvSpPr>
          <p:cNvPr id="147" name="Rounded Rectangle 146"/>
          <p:cNvSpPr/>
          <p:nvPr/>
        </p:nvSpPr>
        <p:spPr>
          <a:xfrm>
            <a:off x="365760" y="3657600"/>
            <a:ext cx="1316736" cy="749808"/>
          </a:xfrm>
          <a:prstGeom prst="roundRect">
            <a:avLst>
              <a:gd name="adj" fmla="val 1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457200" y="3712463"/>
            <a:ext cx="1143000" cy="329184"/>
          </a:xfrm>
          <a:prstGeom prst="rect">
            <a:avLst/>
          </a:prstGeom>
          <a:noFill/>
        </p:spPr>
        <p:txBody>
          <a:bodyPr wrap="square" lIns="0" rIns="0" tIns="0" bIns="0" anchor="t"/>
          <a:lstStyle/>
          <a:p>
            <a:pPr algn="l"/>
            <a:r>
              <a:rPr sz="1600" b="1" i="0">
                <a:solidFill>
                  <a:srgbClr val="188038"/>
                </a:solidFill>
                <a:latin typeface="Arial"/>
              </a:rPr>
              <a:t>−96.9%</a:t>
            </a:r>
          </a:p>
        </p:txBody>
      </p:sp>
      <p:sp>
        <p:nvSpPr>
          <p:cNvPr id="149" name="TextBox 148"/>
          <p:cNvSpPr txBox="1"/>
          <p:nvPr/>
        </p:nvSpPr>
        <p:spPr>
          <a:xfrm>
            <a:off x="457200" y="4041648"/>
            <a:ext cx="1161288" cy="347472"/>
          </a:xfrm>
          <a:prstGeom prst="rect">
            <a:avLst/>
          </a:prstGeom>
          <a:noFill/>
        </p:spPr>
        <p:txBody>
          <a:bodyPr wrap="square" lIns="0" rIns="0" tIns="0" bIns="0" anchor="t"/>
          <a:lstStyle/>
          <a:p>
            <a:pPr algn="l"/>
            <a:r>
              <a:rPr sz="800" b="0" i="0">
                <a:solidFill>
                  <a:srgbClr val="202124"/>
                </a:solidFill>
                <a:latin typeface="Arial"/>
              </a:rPr>
              <a:t>CO₂ vs baseline (best case)</a:t>
            </a:r>
          </a:p>
        </p:txBody>
      </p:sp>
      <p:sp>
        <p:nvSpPr>
          <p:cNvPr id="150" name="Rounded Rectangle 149"/>
          <p:cNvSpPr/>
          <p:nvPr/>
        </p:nvSpPr>
        <p:spPr>
          <a:xfrm>
            <a:off x="1764792" y="3657600"/>
            <a:ext cx="1316736" cy="749808"/>
          </a:xfrm>
          <a:prstGeom prst="roundRect">
            <a:avLst>
              <a:gd name="adj" fmla="val 1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1856232" y="3712463"/>
            <a:ext cx="1143000" cy="329184"/>
          </a:xfrm>
          <a:prstGeom prst="rect">
            <a:avLst/>
          </a:prstGeom>
          <a:noFill/>
        </p:spPr>
        <p:txBody>
          <a:bodyPr wrap="square" lIns="0" rIns="0" tIns="0" bIns="0" anchor="t"/>
          <a:lstStyle/>
          <a:p>
            <a:pPr algn="l"/>
            <a:r>
              <a:rPr sz="1600" b="1" i="0">
                <a:solidFill>
                  <a:srgbClr val="188038"/>
                </a:solidFill>
                <a:latin typeface="Arial"/>
              </a:rPr>
              <a:t>−56.8%</a:t>
            </a:r>
          </a:p>
        </p:txBody>
      </p:sp>
      <p:sp>
        <p:nvSpPr>
          <p:cNvPr id="152" name="TextBox 151"/>
          <p:cNvSpPr txBox="1"/>
          <p:nvPr/>
        </p:nvSpPr>
        <p:spPr>
          <a:xfrm>
            <a:off x="1856232" y="4041648"/>
            <a:ext cx="1161288" cy="347472"/>
          </a:xfrm>
          <a:prstGeom prst="rect">
            <a:avLst/>
          </a:prstGeom>
          <a:noFill/>
        </p:spPr>
        <p:txBody>
          <a:bodyPr wrap="square" lIns="0" rIns="0" tIns="0" bIns="0" anchor="t"/>
          <a:lstStyle/>
          <a:p>
            <a:pPr algn="l"/>
            <a:r>
              <a:rPr sz="800" b="0" i="0">
                <a:solidFill>
                  <a:srgbClr val="202124"/>
                </a:solidFill>
                <a:latin typeface="Arial"/>
              </a:rPr>
              <a:t>India-only, right-sizing alone</a:t>
            </a:r>
          </a:p>
        </p:txBody>
      </p:sp>
      <p:sp>
        <p:nvSpPr>
          <p:cNvPr id="153" name="Rounded Rectangle 152"/>
          <p:cNvSpPr/>
          <p:nvPr/>
        </p:nvSpPr>
        <p:spPr>
          <a:xfrm>
            <a:off x="3163824" y="3657600"/>
            <a:ext cx="1316736" cy="749808"/>
          </a:xfrm>
          <a:prstGeom prst="roundRect">
            <a:avLst>
              <a:gd name="adj" fmla="val 1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3255264" y="3712463"/>
            <a:ext cx="1143000" cy="329184"/>
          </a:xfrm>
          <a:prstGeom prst="rect">
            <a:avLst/>
          </a:prstGeom>
          <a:noFill/>
        </p:spPr>
        <p:txBody>
          <a:bodyPr wrap="square" lIns="0" rIns="0" tIns="0" bIns="0" anchor="t"/>
          <a:lstStyle/>
          <a:p>
            <a:pPr algn="l"/>
            <a:r>
              <a:rPr sz="1600" b="1" i="0">
                <a:solidFill>
                  <a:srgbClr val="188038"/>
                </a:solidFill>
                <a:latin typeface="Arial"/>
              </a:rPr>
              <a:t>27.3M</a:t>
            </a:r>
          </a:p>
        </p:txBody>
      </p:sp>
      <p:sp>
        <p:nvSpPr>
          <p:cNvPr id="155" name="TextBox 154"/>
          <p:cNvSpPr txBox="1"/>
          <p:nvPr/>
        </p:nvSpPr>
        <p:spPr>
          <a:xfrm>
            <a:off x="3255264" y="4041648"/>
            <a:ext cx="1161288" cy="347472"/>
          </a:xfrm>
          <a:prstGeom prst="rect">
            <a:avLst/>
          </a:prstGeom>
          <a:noFill/>
        </p:spPr>
        <p:txBody>
          <a:bodyPr wrap="square" lIns="0" rIns="0" tIns="0" bIns="0" anchor="t"/>
          <a:lstStyle/>
          <a:p>
            <a:pPr algn="l"/>
            <a:r>
              <a:rPr sz="800" b="0" i="0">
                <a:solidFill>
                  <a:srgbClr val="202124"/>
                </a:solidFill>
                <a:latin typeface="Arial"/>
              </a:rPr>
              <a:t>real requests replayed</a:t>
            </a:r>
          </a:p>
        </p:txBody>
      </p:sp>
      <p:sp>
        <p:nvSpPr>
          <p:cNvPr id="156" name="TextBox 155"/>
          <p:cNvSpPr txBox="1"/>
          <p:nvPr/>
        </p:nvSpPr>
        <p:spPr>
          <a:xfrm>
            <a:off x="365760" y="4498848"/>
            <a:ext cx="4114800" cy="411480"/>
          </a:xfrm>
          <a:prstGeom prst="rect">
            <a:avLst/>
          </a:prstGeom>
          <a:noFill/>
        </p:spPr>
        <p:txBody>
          <a:bodyPr wrap="square" lIns="0" rIns="0" tIns="0" bIns="0" anchor="t"/>
          <a:lstStyle/>
          <a:p>
            <a:pPr algn="l"/>
            <a:r>
              <a:rPr sz="800" b="0" i="0">
                <a:solidFill>
                  <a:srgbClr val="5F6368"/>
                </a:solidFill>
                <a:latin typeface="Arial"/>
              </a:rPr>
              <a:t>Tier mix assigned by request size: Flash-Lite 49.1%, Flash 40.8%, Pro 10.1%. A best-case upper bound; published live-grid routing studies report 30–75%.</a:t>
            </a:r>
          </a:p>
        </p:txBody>
      </p:sp>
      <p:sp>
        <p:nvSpPr>
          <p:cNvPr id="157" name="TextBox 156"/>
          <p:cNvSpPr txBox="1"/>
          <p:nvPr/>
        </p:nvSpPr>
        <p:spPr>
          <a:xfrm>
            <a:off x="4754880" y="1261872"/>
            <a:ext cx="4023360" cy="228600"/>
          </a:xfrm>
          <a:prstGeom prst="rect">
            <a:avLst/>
          </a:prstGeom>
          <a:noFill/>
        </p:spPr>
        <p:txBody>
          <a:bodyPr wrap="square" lIns="0" rIns="0" tIns="0" bIns="0" anchor="t"/>
          <a:lstStyle/>
          <a:p>
            <a:pPr algn="l"/>
            <a:r>
              <a:rPr sz="1100" b="1" i="0">
                <a:solidFill>
                  <a:srgbClr val="202124"/>
                </a:solidFill>
                <a:latin typeface="Arial"/>
              </a:rPr>
              <a:t>Live prototype: 11 real requests on Gemini</a:t>
            </a:r>
          </a:p>
        </p:txBody>
      </p:sp>
      <p:sp>
        <p:nvSpPr>
          <p:cNvPr id="158" name="TextBox 157"/>
          <p:cNvSpPr txBox="1"/>
          <p:nvPr/>
        </p:nvSpPr>
        <p:spPr>
          <a:xfrm>
            <a:off x="4754880" y="1481328"/>
            <a:ext cx="4023360" cy="182880"/>
          </a:xfrm>
          <a:prstGeom prst="rect">
            <a:avLst/>
          </a:prstGeom>
          <a:noFill/>
        </p:spPr>
        <p:txBody>
          <a:bodyPr wrap="square" lIns="0" rIns="0" tIns="0" bIns="0" anchor="t"/>
          <a:lstStyle/>
          <a:p>
            <a:pPr algn="l"/>
            <a:r>
              <a:rPr sz="850" b="0" i="0">
                <a:solidFill>
                  <a:srgbClr val="5F6368"/>
                </a:solidFill>
                <a:latin typeface="Arial"/>
              </a:rPr>
              <a:t>From the Firestore ledger of the deployed app (end-to-end, incl. triage)</a:t>
            </a:r>
          </a:p>
        </p:txBody>
      </p:sp>
      <p:graphicFrame>
        <p:nvGraphicFramePr>
          <p:cNvPr id="159" name="Table 158"/>
          <p:cNvGraphicFramePr>
            <a:graphicFrameLocks noGrp="1"/>
          </p:cNvGraphicFramePr>
          <p:nvPr/>
        </p:nvGraphicFramePr>
        <p:xfrm>
          <a:off x="4754880" y="1719072"/>
          <a:ext cx="4023360" cy="1508760"/>
        </p:xfrm>
        <a:graphic>
          <a:graphicData uri="http://schemas.openxmlformats.org/drawingml/2006/table">
            <a:tbl>
              <a:tblPr firstRow="0" bandRow="0">
                <a:tableStyleId>{5C22544A-7EE6-4342-B048-85BDC9FD1C3A}</a:tableStyleId>
              </a:tblPr>
              <a:tblGrid>
                <a:gridCol w="868680"/>
                <a:gridCol w="731520"/>
                <a:gridCol w="868680"/>
                <a:gridCol w="777240"/>
                <a:gridCol w="777240"/>
              </a:tblGrid>
              <a:tr h="301752">
                <a:tc>
                  <a:txBody>
                    <a:bodyPr wrap="square"/>
                    <a:lstStyle/>
                    <a:p>
                      <a:pPr algn="l"/>
                      <a:r>
                        <a:rPr sz="900" b="1">
                          <a:solidFill>
                            <a:srgbClr val="FFFFFF"/>
                          </a:solidFill>
                          <a:latin typeface="Arial"/>
                        </a:rPr>
                        <a:t>Tier</a:t>
                      </a:r>
                    </a:p>
                  </a:txBody>
                  <a:tcPr marL="73152" marR="73152" marT="27432" marB="27432" anchor="ctr">
                    <a:solidFill>
                      <a:srgbClr val="202124"/>
                    </a:solidFill>
                  </a:tcPr>
                </a:tc>
                <a:tc>
                  <a:txBody>
                    <a:bodyPr wrap="square"/>
                    <a:lstStyle/>
                    <a:p>
                      <a:pPr algn="r"/>
                      <a:r>
                        <a:rPr sz="900" b="1">
                          <a:solidFill>
                            <a:srgbClr val="FFFFFF"/>
                          </a:solidFill>
                          <a:latin typeface="Arial"/>
                        </a:rPr>
                        <a:t>Requests</a:t>
                      </a:r>
                    </a:p>
                  </a:txBody>
                  <a:tcPr marL="73152" marR="73152" marT="27432" marB="27432" anchor="ctr">
                    <a:solidFill>
                      <a:srgbClr val="202124"/>
                    </a:solidFill>
                  </a:tcPr>
                </a:tc>
                <a:tc>
                  <a:txBody>
                    <a:bodyPr wrap="square"/>
                    <a:lstStyle/>
                    <a:p>
                      <a:pPr algn="r"/>
                      <a:r>
                        <a:rPr sz="900" b="1">
                          <a:solidFill>
                            <a:srgbClr val="FFFFFF"/>
                          </a:solidFill>
                          <a:latin typeface="Arial"/>
                        </a:rPr>
                        <a:t>Median latency</a:t>
                      </a:r>
                    </a:p>
                  </a:txBody>
                  <a:tcPr marL="73152" marR="73152" marT="27432" marB="27432" anchor="ctr">
                    <a:solidFill>
                      <a:srgbClr val="202124"/>
                    </a:solidFill>
                  </a:tcPr>
                </a:tc>
                <a:tc>
                  <a:txBody>
                    <a:bodyPr wrap="square"/>
                    <a:lstStyle/>
                    <a:p>
                      <a:pPr algn="r"/>
                      <a:r>
                        <a:rPr sz="900" b="1">
                          <a:solidFill>
                            <a:srgbClr val="FFFFFF"/>
                          </a:solidFill>
                          <a:latin typeface="Arial"/>
                        </a:rPr>
                        <a:t>Avg energy</a:t>
                      </a:r>
                    </a:p>
                  </a:txBody>
                  <a:tcPr marL="73152" marR="73152" marT="27432" marB="27432" anchor="ctr">
                    <a:solidFill>
                      <a:srgbClr val="202124"/>
                    </a:solidFill>
                  </a:tcPr>
                </a:tc>
                <a:tc>
                  <a:txBody>
                    <a:bodyPr wrap="square"/>
                    <a:lstStyle/>
                    <a:p>
                      <a:pPr algn="r"/>
                      <a:r>
                        <a:rPr sz="900" b="1">
                          <a:solidFill>
                            <a:srgbClr val="FFFFFF"/>
                          </a:solidFill>
                          <a:latin typeface="Arial"/>
                        </a:rPr>
                        <a:t>Avg CO₂ saved</a:t>
                      </a:r>
                    </a:p>
                  </a:txBody>
                  <a:tcPr marL="73152" marR="73152" marT="27432" marB="27432" anchor="ctr">
                    <a:solidFill>
                      <a:srgbClr val="202124"/>
                    </a:solidFill>
                  </a:tcPr>
                </a:tc>
              </a:tr>
              <a:tr h="301752">
                <a:tc>
                  <a:txBody>
                    <a:bodyPr wrap="square"/>
                    <a:lstStyle/>
                    <a:p>
                      <a:pPr algn="l"/>
                      <a:r>
                        <a:rPr sz="900" b="0">
                          <a:solidFill>
                            <a:srgbClr val="202124"/>
                          </a:solidFill>
                          <a:latin typeface="Arial"/>
                        </a:rPr>
                        <a:t>Flash-Lite</a:t>
                      </a:r>
                    </a:p>
                  </a:txBody>
                  <a:tcPr marL="73152" marR="73152" marT="27432" marB="27432" anchor="ctr">
                    <a:solidFill>
                      <a:srgbClr val="FFFFFF"/>
                    </a:solidFill>
                  </a:tcPr>
                </a:tc>
                <a:tc>
                  <a:txBody>
                    <a:bodyPr wrap="square"/>
                    <a:lstStyle/>
                    <a:p>
                      <a:pPr algn="r"/>
                      <a:r>
                        <a:rPr sz="900" b="0">
                          <a:solidFill>
                            <a:srgbClr val="202124"/>
                          </a:solidFill>
                          <a:latin typeface="Arial"/>
                        </a:rPr>
                        <a:t>7</a:t>
                      </a:r>
                    </a:p>
                  </a:txBody>
                  <a:tcPr marL="73152" marR="73152" marT="27432" marB="27432" anchor="ctr">
                    <a:solidFill>
                      <a:srgbClr val="FFFFFF"/>
                    </a:solidFill>
                  </a:tcPr>
                </a:tc>
                <a:tc>
                  <a:txBody>
                    <a:bodyPr wrap="square"/>
                    <a:lstStyle/>
                    <a:p>
                      <a:pPr algn="r"/>
                      <a:r>
                        <a:rPr sz="900" b="0">
                          <a:solidFill>
                            <a:srgbClr val="202124"/>
                          </a:solidFill>
                          <a:latin typeface="Arial"/>
                        </a:rPr>
                        <a:t>2.4 s</a:t>
                      </a:r>
                    </a:p>
                  </a:txBody>
                  <a:tcPr marL="73152" marR="73152" marT="27432" marB="27432" anchor="ctr">
                    <a:solidFill>
                      <a:srgbClr val="FFFFFF"/>
                    </a:solidFill>
                  </a:tcPr>
                </a:tc>
                <a:tc>
                  <a:txBody>
                    <a:bodyPr wrap="square"/>
                    <a:lstStyle/>
                    <a:p>
                      <a:pPr algn="r"/>
                      <a:r>
                        <a:rPr sz="900" b="0">
                          <a:solidFill>
                            <a:srgbClr val="202124"/>
                          </a:solidFill>
                          <a:latin typeface="Arial"/>
                        </a:rPr>
                        <a:t>0.022 Wh</a:t>
                      </a:r>
                    </a:p>
                  </a:txBody>
                  <a:tcPr marL="73152" marR="73152" marT="27432" marB="27432" anchor="ctr">
                    <a:solidFill>
                      <a:srgbClr val="FFFFFF"/>
                    </a:solidFill>
                  </a:tcPr>
                </a:tc>
                <a:tc>
                  <a:txBody>
                    <a:bodyPr wrap="square"/>
                    <a:lstStyle/>
                    <a:p>
                      <a:pPr algn="r"/>
                      <a:r>
                        <a:rPr sz="900" b="1">
                          <a:solidFill>
                            <a:srgbClr val="188038"/>
                          </a:solidFill>
                          <a:latin typeface="Arial"/>
                        </a:rPr>
                        <a:t>99.2%</a:t>
                      </a:r>
                    </a:p>
                  </a:txBody>
                  <a:tcPr marL="73152" marR="73152" marT="27432" marB="27432" anchor="ctr">
                    <a:solidFill>
                      <a:srgbClr val="FFFFFF"/>
                    </a:solidFill>
                  </a:tcPr>
                </a:tc>
              </a:tr>
              <a:tr h="301752">
                <a:tc>
                  <a:txBody>
                    <a:bodyPr wrap="square"/>
                    <a:lstStyle/>
                    <a:p>
                      <a:pPr algn="l"/>
                      <a:r>
                        <a:rPr sz="900" b="0">
                          <a:solidFill>
                            <a:srgbClr val="202124"/>
                          </a:solidFill>
                          <a:latin typeface="Arial"/>
                        </a:rPr>
                        <a:t>Flash</a:t>
                      </a:r>
                    </a:p>
                  </a:txBody>
                  <a:tcPr marL="73152" marR="73152" marT="27432" marB="27432" anchor="ctr">
                    <a:solidFill>
                      <a:srgbClr val="F8F9FA"/>
                    </a:solidFill>
                  </a:tcPr>
                </a:tc>
                <a:tc>
                  <a:txBody>
                    <a:bodyPr wrap="square"/>
                    <a:lstStyle/>
                    <a:p>
                      <a:pPr algn="r"/>
                      <a:r>
                        <a:rPr sz="900" b="0">
                          <a:solidFill>
                            <a:srgbClr val="202124"/>
                          </a:solidFill>
                          <a:latin typeface="Arial"/>
                        </a:rPr>
                        <a:t>3</a:t>
                      </a:r>
                    </a:p>
                  </a:txBody>
                  <a:tcPr marL="73152" marR="73152" marT="27432" marB="27432" anchor="ctr">
                    <a:solidFill>
                      <a:srgbClr val="F8F9FA"/>
                    </a:solidFill>
                  </a:tcPr>
                </a:tc>
                <a:tc>
                  <a:txBody>
                    <a:bodyPr wrap="square"/>
                    <a:lstStyle/>
                    <a:p>
                      <a:pPr algn="r"/>
                      <a:r>
                        <a:rPr sz="900" b="0">
                          <a:solidFill>
                            <a:srgbClr val="202124"/>
                          </a:solidFill>
                          <a:latin typeface="Arial"/>
                        </a:rPr>
                        <a:t>9.2 s</a:t>
                      </a:r>
                    </a:p>
                  </a:txBody>
                  <a:tcPr marL="73152" marR="73152" marT="27432" marB="27432" anchor="ctr">
                    <a:solidFill>
                      <a:srgbClr val="F8F9FA"/>
                    </a:solidFill>
                  </a:tcPr>
                </a:tc>
                <a:tc>
                  <a:txBody>
                    <a:bodyPr wrap="square"/>
                    <a:lstStyle/>
                    <a:p>
                      <a:pPr algn="r"/>
                      <a:r>
                        <a:rPr sz="900" b="0">
                          <a:solidFill>
                            <a:srgbClr val="202124"/>
                          </a:solidFill>
                          <a:latin typeface="Arial"/>
                        </a:rPr>
                        <a:t>1.05 Wh</a:t>
                      </a:r>
                    </a:p>
                  </a:txBody>
                  <a:tcPr marL="73152" marR="73152" marT="27432" marB="27432" anchor="ctr">
                    <a:solidFill>
                      <a:srgbClr val="F8F9FA"/>
                    </a:solidFill>
                  </a:tcPr>
                </a:tc>
                <a:tc>
                  <a:txBody>
                    <a:bodyPr wrap="square"/>
                    <a:lstStyle/>
                    <a:p>
                      <a:pPr algn="r"/>
                      <a:r>
                        <a:rPr sz="900" b="1">
                          <a:solidFill>
                            <a:srgbClr val="188038"/>
                          </a:solidFill>
                          <a:latin typeface="Arial"/>
                        </a:rPr>
                        <a:t>99.9%</a:t>
                      </a:r>
                    </a:p>
                  </a:txBody>
                  <a:tcPr marL="73152" marR="73152" marT="27432" marB="27432" anchor="ctr">
                    <a:solidFill>
                      <a:srgbClr val="F8F9FA"/>
                    </a:solidFill>
                  </a:tcPr>
                </a:tc>
              </a:tr>
              <a:tr h="301752">
                <a:tc>
                  <a:txBody>
                    <a:bodyPr wrap="square"/>
                    <a:lstStyle/>
                    <a:p>
                      <a:pPr algn="l"/>
                      <a:r>
                        <a:rPr sz="900" b="0">
                          <a:solidFill>
                            <a:srgbClr val="202124"/>
                          </a:solidFill>
                          <a:latin typeface="Arial"/>
                        </a:rPr>
                        <a:t>Pro</a:t>
                      </a:r>
                    </a:p>
                  </a:txBody>
                  <a:tcPr marL="73152" marR="73152" marT="27432" marB="27432" anchor="ctr">
                    <a:solidFill>
                      <a:srgbClr val="FFFFFF"/>
                    </a:solidFill>
                  </a:tcPr>
                </a:tc>
                <a:tc>
                  <a:txBody>
                    <a:bodyPr wrap="square"/>
                    <a:lstStyle/>
                    <a:p>
                      <a:pPr algn="r"/>
                      <a:r>
                        <a:rPr sz="900" b="0">
                          <a:solidFill>
                            <a:srgbClr val="202124"/>
                          </a:solidFill>
                          <a:latin typeface="Arial"/>
                        </a:rPr>
                        <a:t>1</a:t>
                      </a:r>
                    </a:p>
                  </a:txBody>
                  <a:tcPr marL="73152" marR="73152" marT="27432" marB="27432" anchor="ctr">
                    <a:solidFill>
                      <a:srgbClr val="FFFFFF"/>
                    </a:solidFill>
                  </a:tcPr>
                </a:tc>
                <a:tc>
                  <a:txBody>
                    <a:bodyPr wrap="square"/>
                    <a:lstStyle/>
                    <a:p>
                      <a:pPr algn="r"/>
                      <a:r>
                        <a:rPr sz="900" b="0">
                          <a:solidFill>
                            <a:srgbClr val="202124"/>
                          </a:solidFill>
                          <a:latin typeface="Arial"/>
                        </a:rPr>
                        <a:t>19.3 s</a:t>
                      </a:r>
                    </a:p>
                  </a:txBody>
                  <a:tcPr marL="73152" marR="73152" marT="27432" marB="27432" anchor="ctr">
                    <a:solidFill>
                      <a:srgbClr val="FFFFFF"/>
                    </a:solidFill>
                  </a:tcPr>
                </a:tc>
                <a:tc>
                  <a:txBody>
                    <a:bodyPr wrap="square"/>
                    <a:lstStyle/>
                    <a:p>
                      <a:pPr algn="r"/>
                      <a:r>
                        <a:rPr sz="900" b="0">
                          <a:solidFill>
                            <a:srgbClr val="202124"/>
                          </a:solidFill>
                          <a:latin typeface="Arial"/>
                        </a:rPr>
                        <a:t>5.58 Wh</a:t>
                      </a:r>
                    </a:p>
                  </a:txBody>
                  <a:tcPr marL="73152" marR="73152" marT="27432" marB="27432" anchor="ctr">
                    <a:solidFill>
                      <a:srgbClr val="FFFFFF"/>
                    </a:solidFill>
                  </a:tcPr>
                </a:tc>
                <a:tc>
                  <a:txBody>
                    <a:bodyPr wrap="square"/>
                    <a:lstStyle/>
                    <a:p>
                      <a:pPr algn="r"/>
                      <a:r>
                        <a:rPr sz="900" b="1">
                          <a:solidFill>
                            <a:srgbClr val="E37400"/>
                          </a:solidFill>
                          <a:latin typeface="Arial"/>
                        </a:rPr>
                        <a:t>45.3%*</a:t>
                      </a:r>
                    </a:p>
                  </a:txBody>
                  <a:tcPr marL="73152" marR="73152" marT="27432" marB="27432" anchor="ctr">
                    <a:solidFill>
                      <a:srgbClr val="FFFFFF"/>
                    </a:solidFill>
                  </a:tcPr>
                </a:tc>
              </a:tr>
              <a:tr h="301752">
                <a:tc>
                  <a:txBody>
                    <a:bodyPr wrap="square"/>
                    <a:lstStyle/>
                    <a:p>
                      <a:pPr algn="l"/>
                      <a:r>
                        <a:rPr sz="900" b="1">
                          <a:solidFill>
                            <a:srgbClr val="202124"/>
                          </a:solidFill>
                          <a:latin typeface="Arial"/>
                        </a:rPr>
                        <a:t>All</a:t>
                      </a:r>
                    </a:p>
                  </a:txBody>
                  <a:tcPr marL="73152" marR="73152" marT="27432" marB="27432" anchor="ctr">
                    <a:solidFill>
                      <a:srgbClr val="E6F4EA"/>
                    </a:solidFill>
                  </a:tcPr>
                </a:tc>
                <a:tc>
                  <a:txBody>
                    <a:bodyPr wrap="square"/>
                    <a:lstStyle/>
                    <a:p>
                      <a:pPr algn="r"/>
                      <a:r>
                        <a:rPr sz="900" b="1">
                          <a:solidFill>
                            <a:srgbClr val="202124"/>
                          </a:solidFill>
                          <a:latin typeface="Arial"/>
                        </a:rPr>
                        <a:t>11</a:t>
                      </a:r>
                    </a:p>
                  </a:txBody>
                  <a:tcPr marL="73152" marR="73152" marT="27432" marB="27432" anchor="ctr">
                    <a:solidFill>
                      <a:srgbClr val="E6F4EA"/>
                    </a:solidFill>
                  </a:tcPr>
                </a:tc>
                <a:tc>
                  <a:txBody>
                    <a:bodyPr wrap="square"/>
                    <a:lstStyle/>
                    <a:p>
                      <a:pPr algn="r"/>
                      <a:r>
                        <a:rPr sz="900" b="0">
                          <a:solidFill>
                            <a:srgbClr val="202124"/>
                          </a:solidFill>
                          <a:latin typeface="Arial"/>
                        </a:rPr>
                        <a:t>—</a:t>
                      </a:r>
                    </a:p>
                  </a:txBody>
                  <a:tcPr marL="73152" marR="73152" marT="27432" marB="27432" anchor="ctr">
                    <a:solidFill>
                      <a:srgbClr val="E6F4EA"/>
                    </a:solidFill>
                  </a:tcPr>
                </a:tc>
                <a:tc>
                  <a:txBody>
                    <a:bodyPr wrap="square"/>
                    <a:lstStyle/>
                    <a:p>
                      <a:pPr algn="r"/>
                      <a:r>
                        <a:rPr sz="900" b="0">
                          <a:solidFill>
                            <a:srgbClr val="202124"/>
                          </a:solidFill>
                          <a:latin typeface="Arial"/>
                        </a:rPr>
                        <a:t>8.88 Wh</a:t>
                      </a:r>
                    </a:p>
                  </a:txBody>
                  <a:tcPr marL="73152" marR="73152" marT="27432" marB="27432" anchor="ctr">
                    <a:solidFill>
                      <a:srgbClr val="E6F4EA"/>
                    </a:solidFill>
                  </a:tcPr>
                </a:tc>
                <a:tc>
                  <a:txBody>
                    <a:bodyPr wrap="square"/>
                    <a:lstStyle/>
                    <a:p>
                      <a:pPr algn="r"/>
                      <a:r>
                        <a:rPr sz="900" b="1">
                          <a:solidFill>
                            <a:srgbClr val="188038"/>
                          </a:solidFill>
                          <a:latin typeface="Arial"/>
                        </a:rPr>
                        <a:t>83%</a:t>
                      </a:r>
                    </a:p>
                  </a:txBody>
                  <a:tcPr marL="73152" marR="73152" marT="27432" marB="27432" anchor="ctr">
                    <a:solidFill>
                      <a:srgbClr val="E6F4EA"/>
                    </a:solidFill>
                  </a:tcPr>
                </a:tc>
              </a:tr>
            </a:tbl>
          </a:graphicData>
        </a:graphic>
      </p:graphicFrame>
      <p:sp>
        <p:nvSpPr>
          <p:cNvPr id="160" name="Rounded Rectangle 159"/>
          <p:cNvSpPr/>
          <p:nvPr/>
        </p:nvSpPr>
        <p:spPr>
          <a:xfrm>
            <a:off x="4754880" y="3337560"/>
            <a:ext cx="4023360" cy="1069848"/>
          </a:xfrm>
          <a:prstGeom prst="roundRect">
            <a:avLst>
              <a:gd name="adj" fmla="val 6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4892040" y="3410712"/>
            <a:ext cx="3794760" cy="960120"/>
          </a:xfrm>
          <a:prstGeom prst="rect">
            <a:avLst/>
          </a:prstGeom>
          <a:noFill/>
        </p:spPr>
        <p:txBody>
          <a:bodyPr wrap="square" lIns="0" rIns="0" tIns="0" bIns="0" anchor="t"/>
          <a:lstStyle/>
          <a:p>
            <a:pPr algn="l">
              <a:spcAft>
                <a:spcPts val="300"/>
              </a:spcAft>
            </a:pPr>
            <a:r>
              <a:rPr sz="1000" b="1" i="0">
                <a:solidFill>
                  <a:srgbClr val="202124"/>
                </a:solidFill>
                <a:latin typeface="Arial"/>
              </a:rPr>
              <a:t>What the live data shows</a:t>
            </a:r>
          </a:p>
          <a:p>
            <a:pPr algn="l" marL="146304" indent="-146304">
              <a:spcAft>
                <a:spcPts val="200"/>
              </a:spcAft>
              <a:buFont typeface="Arial"/>
              <a:buChar char="•"/>
            </a:pPr>
            <a:r>
              <a:rPr sz="850" b="0" i="0">
                <a:solidFill>
                  <a:srgbClr val="202124"/>
                </a:solidFill>
                <a:latin typeface="Arial"/>
              </a:rPr>
              <a:t>2.30 g CO₂ emitted vs 13.50 g for the baseline: 11.2 g saved.</a:t>
            </a:r>
          </a:p>
          <a:p>
            <a:pPr algn="l" marL="146304" indent="-146304">
              <a:spcAft>
                <a:spcPts val="200"/>
              </a:spcAft>
              <a:buFont typeface="Arial"/>
              <a:buChar char="•"/>
            </a:pPr>
            <a:r>
              <a:rPr sz="850" b="0" i="0">
                <a:solidFill>
                  <a:srgbClr val="202124"/>
                </a:solidFill>
                <a:latin typeface="Arial"/>
              </a:rPr>
              <a:t>Simple prompts answer in ≈2.4 s on Flash-Lite, served from Montréal (≈2 gCO₂/kWh).</a:t>
            </a:r>
          </a:p>
          <a:p>
            <a:pPr algn="l" marL="146304" indent="-146304">
              <a:buFont typeface="Arial"/>
              <a:buChar char="•"/>
            </a:pPr>
            <a:r>
              <a:rPr sz="850" b="0" i="0">
                <a:solidFill>
                  <a:srgbClr val="202124"/>
                </a:solidFill>
                <a:latin typeface="Arial"/>
              </a:rPr>
              <a:t>Flash at 9–11 s is suited to batch and deferrable work.</a:t>
            </a:r>
          </a:p>
        </p:txBody>
      </p:sp>
      <p:sp>
        <p:nvSpPr>
          <p:cNvPr id="162" name="TextBox 161"/>
          <p:cNvSpPr txBox="1"/>
          <p:nvPr/>
        </p:nvSpPr>
        <p:spPr>
          <a:xfrm>
            <a:off x="4754880" y="4498848"/>
            <a:ext cx="4023360" cy="411480"/>
          </a:xfrm>
          <a:prstGeom prst="rect">
            <a:avLst/>
          </a:prstGeom>
          <a:noFill/>
        </p:spPr>
        <p:txBody>
          <a:bodyPr wrap="square" lIns="0" rIns="0" tIns="0" bIns="0" anchor="t"/>
          <a:lstStyle/>
          <a:p>
            <a:pPr algn="l"/>
            <a:r>
              <a:rPr sz="800" b="0" i="0">
                <a:solidFill>
                  <a:srgbClr val="5F6368"/>
                </a:solidFill>
                <a:latin typeface="Arial"/>
              </a:rPr>
              <a:t>* India-only request: no Gemini Pro endpoint was available in Mumbai/Delhi, so it fell back to the global endpoint and was accounted at Iowa. Strict residency is on the roadmap.</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60" y="1261872"/>
            <a:ext cx="2679192" cy="2697480"/>
          </a:xfrm>
          <a:prstGeom prst="roundRect">
            <a:avLst>
              <a:gd name="adj" fmla="val 5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Oval 152"/>
          <p:cNvSpPr/>
          <p:nvPr/>
        </p:nvSpPr>
        <p:spPr>
          <a:xfrm>
            <a:off x="530352" y="1417320"/>
            <a:ext cx="384048" cy="38404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54" name="TextBox 153"/>
          <p:cNvSpPr txBox="1"/>
          <p:nvPr/>
        </p:nvSpPr>
        <p:spPr>
          <a:xfrm>
            <a:off x="1024128" y="1389888"/>
            <a:ext cx="1920240" cy="201168"/>
          </a:xfrm>
          <a:prstGeom prst="rect">
            <a:avLst/>
          </a:prstGeom>
          <a:noFill/>
        </p:spPr>
        <p:txBody>
          <a:bodyPr wrap="square" lIns="0" rIns="0" tIns="0" bIns="0" anchor="t"/>
          <a:lstStyle/>
          <a:p>
            <a:pPr algn="l"/>
            <a:r>
              <a:rPr sz="850" b="1" i="0">
                <a:solidFill>
                  <a:srgbClr val="188038"/>
                </a:solidFill>
                <a:latin typeface="Arial"/>
              </a:rPr>
              <a:t>NEXT 1 MONTH</a:t>
            </a:r>
          </a:p>
        </p:txBody>
      </p:sp>
      <p:sp>
        <p:nvSpPr>
          <p:cNvPr id="155" name="TextBox 154"/>
          <p:cNvSpPr txBox="1"/>
          <p:nvPr/>
        </p:nvSpPr>
        <p:spPr>
          <a:xfrm>
            <a:off x="1024128" y="1591056"/>
            <a:ext cx="1920240" cy="256032"/>
          </a:xfrm>
          <a:prstGeom prst="rect">
            <a:avLst/>
          </a:prstGeom>
          <a:noFill/>
        </p:spPr>
        <p:txBody>
          <a:bodyPr wrap="square" lIns="0" rIns="0" tIns="0" bIns="0" anchor="t"/>
          <a:lstStyle/>
          <a:p>
            <a:pPr algn="l"/>
            <a:r>
              <a:rPr sz="1250" b="1" i="0">
                <a:solidFill>
                  <a:srgbClr val="202124"/>
                </a:solidFill>
                <a:latin typeface="Arial"/>
              </a:rPr>
              <a:t>Harden the prototype</a:t>
            </a:r>
          </a:p>
        </p:txBody>
      </p:sp>
      <p:sp>
        <p:nvSpPr>
          <p:cNvPr id="156" name="TextBox 155"/>
          <p:cNvSpPr txBox="1"/>
          <p:nvPr/>
        </p:nvSpPr>
        <p:spPr>
          <a:xfrm>
            <a:off x="530352" y="2011680"/>
            <a:ext cx="2377440" cy="1371600"/>
          </a:xfrm>
          <a:prstGeom prst="rect">
            <a:avLst/>
          </a:prstGeom>
          <a:noFill/>
        </p:spPr>
        <p:txBody>
          <a:bodyPr wrap="square" lIns="0" rIns="0" tIns="0" bIns="0" anchor="t"/>
          <a:lstStyle/>
          <a:p>
            <a:pPr algn="l" marL="146304" indent="-146304">
              <a:spcAft>
                <a:spcPts val="600"/>
              </a:spcAft>
              <a:buFont typeface="Arial"/>
              <a:buChar char="•"/>
            </a:pPr>
            <a:r>
              <a:rPr sz="950" b="0" i="0">
                <a:solidFill>
                  <a:srgbClr val="202124"/>
                </a:solidFill>
                <a:latin typeface="Arial"/>
              </a:rPr>
              <a:t>Live grid data from Electricity Maps, WattTime or the Carbon Aware SDK</a:t>
            </a:r>
          </a:p>
          <a:p>
            <a:pPr algn="l" marL="146304" indent="-146304">
              <a:spcAft>
                <a:spcPts val="600"/>
              </a:spcAft>
              <a:buFont typeface="Arial"/>
              <a:buChar char="•"/>
            </a:pPr>
            <a:r>
              <a:rPr sz="950" b="0" i="0">
                <a:solidFill>
                  <a:srgbClr val="202124"/>
                </a:solidFill>
                <a:latin typeface="Arial"/>
              </a:rPr>
              <a:t>Real deferral with Cloud Tasks scheduled for the green slot</a:t>
            </a:r>
          </a:p>
          <a:p>
            <a:pPr algn="l" marL="146304" indent="-146304">
              <a:spcAft>
                <a:spcPts val="600"/>
              </a:spcAft>
              <a:buFont typeface="Arial"/>
              <a:buChar char="•"/>
            </a:pPr>
            <a:r>
              <a:rPr sz="950" b="0" i="0">
                <a:solidFill>
                  <a:srgbClr val="202124"/>
                </a:solidFill>
                <a:latin typeface="Arial"/>
              </a:rPr>
              <a:t>Strict residency: never fall back outside allowed regions</a:t>
            </a:r>
          </a:p>
        </p:txBody>
      </p:sp>
      <p:sp>
        <p:nvSpPr>
          <p:cNvPr id="157" name="Rounded Rectangle 156"/>
          <p:cNvSpPr/>
          <p:nvPr/>
        </p:nvSpPr>
        <p:spPr>
          <a:xfrm>
            <a:off x="502920" y="3364992"/>
            <a:ext cx="2404872"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621792" y="3364992"/>
            <a:ext cx="2194560" cy="457200"/>
          </a:xfrm>
          <a:prstGeom prst="rect">
            <a:avLst/>
          </a:prstGeom>
          <a:noFill/>
        </p:spPr>
        <p:txBody>
          <a:bodyPr wrap="square" lIns="0" rIns="0" tIns="0" bIns="0" anchor="ctr"/>
          <a:lstStyle/>
          <a:p>
            <a:pPr algn="l"/>
            <a:r>
              <a:rPr sz="850" b="1" i="0">
                <a:solidFill>
                  <a:srgbClr val="188038"/>
                </a:solidFill>
                <a:latin typeface="Arial"/>
              </a:rPr>
              <a:t>Outcome  </a:t>
            </a:r>
            <a:r>
              <a:rPr sz="850" b="0" i="0">
                <a:solidFill>
                  <a:srgbClr val="202124"/>
                </a:solidFill>
                <a:latin typeface="Arial"/>
              </a:rPr>
              <a:t>Real-world carbon numbers, not modelled ones</a:t>
            </a:r>
          </a:p>
        </p:txBody>
      </p:sp>
      <p:cxnSp>
        <p:nvCxnSpPr>
          <p:cNvPr id="159" name="Connector 158"/>
          <p:cNvCxnSpPr/>
          <p:nvPr/>
        </p:nvCxnSpPr>
        <p:spPr>
          <a:xfrm>
            <a:off x="3063240" y="2606040"/>
            <a:ext cx="155448" cy="0"/>
          </a:xfrm>
          <a:prstGeom prst="line">
            <a:avLst/>
          </a:prstGeom>
          <a:ln w="1905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 name="Rounded Rectangle 159"/>
          <p:cNvSpPr/>
          <p:nvPr/>
        </p:nvSpPr>
        <p:spPr>
          <a:xfrm>
            <a:off x="3232404" y="1261872"/>
            <a:ext cx="2679192" cy="2697480"/>
          </a:xfrm>
          <a:prstGeom prst="roundRect">
            <a:avLst>
              <a:gd name="adj" fmla="val 5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3396996" y="1417320"/>
            <a:ext cx="384048" cy="38404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62" name="TextBox 161"/>
          <p:cNvSpPr txBox="1"/>
          <p:nvPr/>
        </p:nvSpPr>
        <p:spPr>
          <a:xfrm>
            <a:off x="3890772" y="1389888"/>
            <a:ext cx="1920240" cy="201168"/>
          </a:xfrm>
          <a:prstGeom prst="rect">
            <a:avLst/>
          </a:prstGeom>
          <a:noFill/>
        </p:spPr>
        <p:txBody>
          <a:bodyPr wrap="square" lIns="0" rIns="0" tIns="0" bIns="0" anchor="t"/>
          <a:lstStyle/>
          <a:p>
            <a:pPr algn="l"/>
            <a:r>
              <a:rPr sz="850" b="1" i="0">
                <a:solidFill>
                  <a:srgbClr val="1A73E8"/>
                </a:solidFill>
                <a:latin typeface="Arial"/>
              </a:rPr>
              <a:t>3 MONTHS</a:t>
            </a:r>
          </a:p>
        </p:txBody>
      </p:sp>
      <p:sp>
        <p:nvSpPr>
          <p:cNvPr id="163" name="TextBox 162"/>
          <p:cNvSpPr txBox="1"/>
          <p:nvPr/>
        </p:nvSpPr>
        <p:spPr>
          <a:xfrm>
            <a:off x="3890772" y="1591056"/>
            <a:ext cx="1920240" cy="256032"/>
          </a:xfrm>
          <a:prstGeom prst="rect">
            <a:avLst/>
          </a:prstGeom>
          <a:noFill/>
        </p:spPr>
        <p:txBody>
          <a:bodyPr wrap="square" lIns="0" rIns="0" tIns="0" bIns="0" anchor="t"/>
          <a:lstStyle/>
          <a:p>
            <a:pPr algn="l"/>
            <a:r>
              <a:rPr sz="1250" b="1" i="0">
                <a:solidFill>
                  <a:srgbClr val="202124"/>
                </a:solidFill>
                <a:latin typeface="Arial"/>
              </a:rPr>
              <a:t>Prove quality</a:t>
            </a:r>
          </a:p>
        </p:txBody>
      </p:sp>
      <p:sp>
        <p:nvSpPr>
          <p:cNvPr id="164" name="TextBox 163"/>
          <p:cNvSpPr txBox="1"/>
          <p:nvPr/>
        </p:nvSpPr>
        <p:spPr>
          <a:xfrm>
            <a:off x="3396996" y="2011680"/>
            <a:ext cx="2377440" cy="1371600"/>
          </a:xfrm>
          <a:prstGeom prst="rect">
            <a:avLst/>
          </a:prstGeom>
          <a:noFill/>
        </p:spPr>
        <p:txBody>
          <a:bodyPr wrap="square" lIns="0" rIns="0" tIns="0" bIns="0" anchor="t"/>
          <a:lstStyle/>
          <a:p>
            <a:pPr algn="l" marL="146304" indent="-146304">
              <a:spcAft>
                <a:spcPts val="600"/>
              </a:spcAft>
              <a:buFont typeface="Arial"/>
              <a:buChar char="•"/>
            </a:pPr>
            <a:r>
              <a:rPr sz="950" b="0" i="0">
                <a:solidFill>
                  <a:srgbClr val="202124"/>
                </a:solidFill>
                <a:latin typeface="Arial"/>
              </a:rPr>
              <a:t>Benchmark triage accuracy against answer quality</a:t>
            </a:r>
          </a:p>
          <a:p>
            <a:pPr algn="l" marL="146304" indent="-146304">
              <a:spcAft>
                <a:spcPts val="600"/>
              </a:spcAft>
              <a:buFont typeface="Arial"/>
              <a:buChar char="•"/>
            </a:pPr>
            <a:r>
              <a:rPr sz="950" b="0" i="0">
                <a:solidFill>
                  <a:srgbClr val="202124"/>
                </a:solidFill>
                <a:latin typeface="Arial"/>
              </a:rPr>
              <a:t>Learned router trained on ledger data</a:t>
            </a:r>
          </a:p>
          <a:p>
            <a:pPr algn="l" marL="146304" indent="-146304">
              <a:spcAft>
                <a:spcPts val="600"/>
              </a:spcAft>
              <a:buFont typeface="Arial"/>
              <a:buChar char="•"/>
            </a:pPr>
            <a:r>
              <a:rPr sz="950" b="0" i="0">
                <a:solidFill>
                  <a:srgbClr val="202124"/>
                </a:solidFill>
                <a:latin typeface="Arial"/>
              </a:rPr>
              <a:t>Output-length model using prompt features, not only length</a:t>
            </a:r>
          </a:p>
        </p:txBody>
      </p:sp>
      <p:sp>
        <p:nvSpPr>
          <p:cNvPr id="165" name="Rounded Rectangle 164"/>
          <p:cNvSpPr/>
          <p:nvPr/>
        </p:nvSpPr>
        <p:spPr>
          <a:xfrm>
            <a:off x="3369564" y="3364992"/>
            <a:ext cx="2404872"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3488436" y="3364992"/>
            <a:ext cx="2194560" cy="457200"/>
          </a:xfrm>
          <a:prstGeom prst="rect">
            <a:avLst/>
          </a:prstGeom>
          <a:noFill/>
        </p:spPr>
        <p:txBody>
          <a:bodyPr wrap="square" lIns="0" rIns="0" tIns="0" bIns="0" anchor="ctr"/>
          <a:lstStyle/>
          <a:p>
            <a:pPr algn="l"/>
            <a:r>
              <a:rPr sz="850" b="1" i="0">
                <a:solidFill>
                  <a:srgbClr val="1A73E8"/>
                </a:solidFill>
                <a:latin typeface="Arial"/>
              </a:rPr>
              <a:t>Outcome  </a:t>
            </a:r>
            <a:r>
              <a:rPr sz="850" b="0" i="0">
                <a:solidFill>
                  <a:srgbClr val="202124"/>
                </a:solidFill>
                <a:latin typeface="Arial"/>
              </a:rPr>
              <a:t>Lower carbon with quality guaranteed</a:t>
            </a:r>
          </a:p>
        </p:txBody>
      </p:sp>
      <p:cxnSp>
        <p:nvCxnSpPr>
          <p:cNvPr id="167" name="Connector 166"/>
          <p:cNvCxnSpPr/>
          <p:nvPr/>
        </p:nvCxnSpPr>
        <p:spPr>
          <a:xfrm>
            <a:off x="5929884" y="2606040"/>
            <a:ext cx="155448" cy="0"/>
          </a:xfrm>
          <a:prstGeom prst="line">
            <a:avLst/>
          </a:prstGeom>
          <a:ln w="1905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8" name="Rounded Rectangle 167"/>
          <p:cNvSpPr/>
          <p:nvPr/>
        </p:nvSpPr>
        <p:spPr>
          <a:xfrm>
            <a:off x="6099048" y="1261872"/>
            <a:ext cx="2679192" cy="2697480"/>
          </a:xfrm>
          <a:prstGeom prst="roundRect">
            <a:avLst>
              <a:gd name="adj" fmla="val 5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Oval 168"/>
          <p:cNvSpPr/>
          <p:nvPr/>
        </p:nvSpPr>
        <p:spPr>
          <a:xfrm>
            <a:off x="6263640" y="1417320"/>
            <a:ext cx="384048" cy="38404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70" name="TextBox 169"/>
          <p:cNvSpPr txBox="1"/>
          <p:nvPr/>
        </p:nvSpPr>
        <p:spPr>
          <a:xfrm>
            <a:off x="6757416" y="1389888"/>
            <a:ext cx="1920240" cy="201168"/>
          </a:xfrm>
          <a:prstGeom prst="rect">
            <a:avLst/>
          </a:prstGeom>
          <a:noFill/>
        </p:spPr>
        <p:txBody>
          <a:bodyPr wrap="square" lIns="0" rIns="0" tIns="0" bIns="0" anchor="t"/>
          <a:lstStyle/>
          <a:p>
            <a:pPr algn="l"/>
            <a:r>
              <a:rPr sz="850" b="1" i="0">
                <a:solidFill>
                  <a:srgbClr val="E37400"/>
                </a:solidFill>
                <a:latin typeface="Arial"/>
              </a:rPr>
              <a:t>6 MONTHS+</a:t>
            </a:r>
          </a:p>
        </p:txBody>
      </p:sp>
      <p:sp>
        <p:nvSpPr>
          <p:cNvPr id="171" name="TextBox 170"/>
          <p:cNvSpPr txBox="1"/>
          <p:nvPr/>
        </p:nvSpPr>
        <p:spPr>
          <a:xfrm>
            <a:off x="6757416" y="1591056"/>
            <a:ext cx="1920240" cy="256032"/>
          </a:xfrm>
          <a:prstGeom prst="rect">
            <a:avLst/>
          </a:prstGeom>
          <a:noFill/>
        </p:spPr>
        <p:txBody>
          <a:bodyPr wrap="square" lIns="0" rIns="0" tIns="0" bIns="0" anchor="t"/>
          <a:lstStyle/>
          <a:p>
            <a:pPr algn="l"/>
            <a:r>
              <a:rPr sz="1250" b="1" i="0">
                <a:solidFill>
                  <a:srgbClr val="202124"/>
                </a:solidFill>
                <a:latin typeface="Arial"/>
              </a:rPr>
              <a:t>Scale it</a:t>
            </a:r>
          </a:p>
        </p:txBody>
      </p:sp>
      <p:sp>
        <p:nvSpPr>
          <p:cNvPr id="172" name="TextBox 171"/>
          <p:cNvSpPr txBox="1"/>
          <p:nvPr/>
        </p:nvSpPr>
        <p:spPr>
          <a:xfrm>
            <a:off x="6263640" y="2011680"/>
            <a:ext cx="2377440" cy="1371600"/>
          </a:xfrm>
          <a:prstGeom prst="rect">
            <a:avLst/>
          </a:prstGeom>
          <a:noFill/>
        </p:spPr>
        <p:txBody>
          <a:bodyPr wrap="square" lIns="0" rIns="0" tIns="0" bIns="0" anchor="t"/>
          <a:lstStyle/>
          <a:p>
            <a:pPr algn="l" marL="146304" indent="-146304">
              <a:spcAft>
                <a:spcPts val="600"/>
              </a:spcAft>
              <a:buFont typeface="Arial"/>
              <a:buChar char="•"/>
            </a:pPr>
            <a:r>
              <a:rPr sz="950" b="0" i="0">
                <a:solidFill>
                  <a:srgbClr val="202124"/>
                </a:solidFill>
                <a:latin typeface="Arial"/>
              </a:rPr>
              <a:t>OpenAI-compatible drop-in proxy with auth and quotas</a:t>
            </a:r>
          </a:p>
          <a:p>
            <a:pPr algn="l" marL="146304" indent="-146304">
              <a:spcAft>
                <a:spcPts val="600"/>
              </a:spcAft>
              <a:buFont typeface="Arial"/>
              <a:buChar char="•"/>
            </a:pPr>
            <a:r>
              <a:rPr sz="950" b="0" i="0">
                <a:solidFill>
                  <a:srgbClr val="202124"/>
                </a:solidFill>
                <a:latin typeface="Arial"/>
              </a:rPr>
              <a:t>Capacity- and latency-aware multi-region routing</a:t>
            </a:r>
          </a:p>
          <a:p>
            <a:pPr algn="l" marL="146304" indent="-146304">
              <a:spcAft>
                <a:spcPts val="600"/>
              </a:spcAft>
              <a:buFont typeface="Arial"/>
              <a:buChar char="•"/>
            </a:pPr>
            <a:r>
              <a:rPr sz="950" b="0" i="0">
                <a:solidFill>
                  <a:srgbClr val="202124"/>
                </a:solidFill>
                <a:latin typeface="Arial"/>
              </a:rPr>
              <a:t>Org carbon budgets and ESG / BRSR reports</a:t>
            </a:r>
          </a:p>
        </p:txBody>
      </p:sp>
      <p:sp>
        <p:nvSpPr>
          <p:cNvPr id="173" name="Rounded Rectangle 172"/>
          <p:cNvSpPr/>
          <p:nvPr/>
        </p:nvSpPr>
        <p:spPr>
          <a:xfrm>
            <a:off x="6236208" y="3364992"/>
            <a:ext cx="2404872"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6355080" y="3364992"/>
            <a:ext cx="2194560" cy="457200"/>
          </a:xfrm>
          <a:prstGeom prst="rect">
            <a:avLst/>
          </a:prstGeom>
          <a:noFill/>
        </p:spPr>
        <p:txBody>
          <a:bodyPr wrap="square" lIns="0" rIns="0" tIns="0" bIns="0" anchor="ctr"/>
          <a:lstStyle/>
          <a:p>
            <a:pPr algn="l"/>
            <a:r>
              <a:rPr sz="850" b="1" i="0">
                <a:solidFill>
                  <a:srgbClr val="E37400"/>
                </a:solidFill>
                <a:latin typeface="Arial"/>
              </a:rPr>
              <a:t>Outcome  </a:t>
            </a:r>
            <a:r>
              <a:rPr sz="850" b="0" i="0">
                <a:solidFill>
                  <a:srgbClr val="202124"/>
                </a:solidFill>
                <a:latin typeface="Arial"/>
              </a:rPr>
              <a:t>One-line adoption for any GenAI app</a:t>
            </a:r>
          </a:p>
        </p:txBody>
      </p:sp>
      <p:sp>
        <p:nvSpPr>
          <p:cNvPr id="175" name="Rounded Rectangle 174"/>
          <p:cNvSpPr/>
          <p:nvPr/>
        </p:nvSpPr>
        <p:spPr>
          <a:xfrm>
            <a:off x="365760" y="4096512"/>
            <a:ext cx="8412480" cy="804672"/>
          </a:xfrm>
          <a:prstGeom prst="roundRect">
            <a:avLst>
              <a:gd name="adj" fmla="val 8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Oval 175"/>
          <p:cNvSpPr/>
          <p:nvPr/>
        </p:nvSpPr>
        <p:spPr>
          <a:xfrm>
            <a:off x="530352" y="4261104"/>
            <a:ext cx="475488" cy="475488"/>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7" name="Picture 176" descr="MdEco.png"/>
          <p:cNvPicPr>
            <a:picLocks noChangeAspect="1"/>
          </p:cNvPicPr>
          <p:nvPr/>
        </p:nvPicPr>
        <p:blipFill>
          <a:blip r:embed="rId5"/>
          <a:stretch>
            <a:fillRect/>
          </a:stretch>
        </p:blipFill>
        <p:spPr>
          <a:xfrm>
            <a:off x="634959" y="4365711"/>
            <a:ext cx="266273" cy="266273"/>
          </a:xfrm>
          <a:prstGeom prst="rect">
            <a:avLst/>
          </a:prstGeom>
        </p:spPr>
      </p:pic>
      <p:sp>
        <p:nvSpPr>
          <p:cNvPr id="178" name="TextBox 177"/>
          <p:cNvSpPr txBox="1"/>
          <p:nvPr/>
        </p:nvSpPr>
        <p:spPr>
          <a:xfrm>
            <a:off x="1188720" y="4169663"/>
            <a:ext cx="7452360" cy="685800"/>
          </a:xfrm>
          <a:prstGeom prst="rect">
            <a:avLst/>
          </a:prstGeom>
          <a:noFill/>
        </p:spPr>
        <p:txBody>
          <a:bodyPr wrap="square" lIns="0" rIns="0" tIns="0" bIns="0" anchor="t"/>
          <a:lstStyle/>
          <a:p>
            <a:pPr algn="l"/>
            <a:r>
              <a:rPr sz="1050" b="1" i="0">
                <a:solidFill>
                  <a:srgbClr val="188038"/>
                </a:solidFill>
                <a:latin typeface="Arial"/>
              </a:rPr>
              <a:t>Social impact</a:t>
            </a:r>
          </a:p>
          <a:p>
            <a:pPr algn="l"/>
            <a:r>
              <a:rPr sz="950" b="0" i="0">
                <a:solidFill>
                  <a:srgbClr val="202124"/>
                </a:solidFill>
                <a:latin typeface="Arial"/>
              </a:rPr>
              <a:t>Lets startups, colleges and public-sector apps in India adopt GenAI with measurable, reportable emissions and a lower bill, without changing their product. Every gram saved is logged and auditable.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65760" y="1371600"/>
            <a:ext cx="8412480" cy="8686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548640" y="1554480"/>
            <a:ext cx="502920" cy="502920"/>
          </a:xfrm>
          <a:prstGeom prst="ellipse">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MdCode.png"/>
          <p:cNvPicPr>
            <a:picLocks noChangeAspect="1"/>
          </p:cNvPicPr>
          <p:nvPr/>
        </p:nvPicPr>
        <p:blipFill>
          <a:blip r:embed="rId5"/>
          <a:stretch>
            <a:fillRect/>
          </a:stretch>
        </p:blipFill>
        <p:spPr>
          <a:xfrm>
            <a:off x="659282" y="1665122"/>
            <a:ext cx="281635" cy="281635"/>
          </a:xfrm>
          <a:prstGeom prst="rect">
            <a:avLst/>
          </a:prstGeom>
        </p:spPr>
      </p:pic>
      <p:sp>
        <p:nvSpPr>
          <p:cNvPr id="163" name="TextBox 162"/>
          <p:cNvSpPr txBox="1"/>
          <p:nvPr/>
        </p:nvSpPr>
        <p:spPr>
          <a:xfrm>
            <a:off x="1234440" y="1527048"/>
            <a:ext cx="7223760" cy="228600"/>
          </a:xfrm>
          <a:prstGeom prst="rect">
            <a:avLst/>
          </a:prstGeom>
          <a:noFill/>
        </p:spPr>
        <p:txBody>
          <a:bodyPr wrap="square" lIns="0" rIns="0" tIns="0" bIns="0" anchor="t"/>
          <a:lstStyle/>
          <a:p>
            <a:pPr algn="l"/>
            <a:r>
              <a:rPr sz="1100" b="1" i="0">
                <a:solidFill>
                  <a:srgbClr val="202124"/>
                </a:solidFill>
                <a:latin typeface="Arial"/>
              </a:rPr>
              <a:t>GitHub Public Repository</a:t>
            </a:r>
          </a:p>
        </p:txBody>
      </p:sp>
      <p:sp>
        <p:nvSpPr>
          <p:cNvPr id="164" name="TextBox 163"/>
          <p:cNvSpPr txBox="1"/>
          <p:nvPr/>
        </p:nvSpPr>
        <p:spPr>
          <a:xfrm>
            <a:off x="1234440" y="1801368"/>
            <a:ext cx="7223760" cy="274320"/>
          </a:xfrm>
          <a:prstGeom prst="rect">
            <a:avLst/>
          </a:prstGeom>
          <a:noFill/>
        </p:spPr>
        <p:txBody>
          <a:bodyPr wrap="square" lIns="0" rIns="0" tIns="0" bIns="0" anchor="t"/>
          <a:lstStyle/>
          <a:p>
            <a:pPr algn="l"/>
            <a:r>
              <a:rPr sz="1200" b="0" i="0">
                <a:solidFill>
                  <a:srgbClr val="1A73E8"/>
                </a:solidFill>
                <a:latin typeface="Arial"/>
              </a:rPr>
              <a:t> </a:t>
            </a:r>
          </a:p>
        </p:txBody>
      </p:sp>
      <p:sp>
        <p:nvSpPr>
          <p:cNvPr id="165" name="Rounded Rectangle 164"/>
          <p:cNvSpPr/>
          <p:nvPr/>
        </p:nvSpPr>
        <p:spPr>
          <a:xfrm>
            <a:off x="365760" y="2423160"/>
            <a:ext cx="8412480" cy="8686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Oval 165"/>
          <p:cNvSpPr/>
          <p:nvPr/>
        </p:nvSpPr>
        <p:spPr>
          <a:xfrm>
            <a:off x="548640" y="2606040"/>
            <a:ext cx="502920" cy="5029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7" name="Picture 166" descr="MdPlayCircle.png"/>
          <p:cNvPicPr>
            <a:picLocks noChangeAspect="1"/>
          </p:cNvPicPr>
          <p:nvPr/>
        </p:nvPicPr>
        <p:blipFill>
          <a:blip r:embed="rId6"/>
          <a:stretch>
            <a:fillRect/>
          </a:stretch>
        </p:blipFill>
        <p:spPr>
          <a:xfrm>
            <a:off x="659282" y="2716682"/>
            <a:ext cx="281635" cy="281635"/>
          </a:xfrm>
          <a:prstGeom prst="rect">
            <a:avLst/>
          </a:prstGeom>
        </p:spPr>
      </p:pic>
      <p:sp>
        <p:nvSpPr>
          <p:cNvPr id="168" name="TextBox 167"/>
          <p:cNvSpPr txBox="1"/>
          <p:nvPr/>
        </p:nvSpPr>
        <p:spPr>
          <a:xfrm>
            <a:off x="1234440" y="2578608"/>
            <a:ext cx="7223760" cy="228600"/>
          </a:xfrm>
          <a:prstGeom prst="rect">
            <a:avLst/>
          </a:prstGeom>
          <a:noFill/>
        </p:spPr>
        <p:txBody>
          <a:bodyPr wrap="square" lIns="0" rIns="0" tIns="0" bIns="0" anchor="t"/>
          <a:lstStyle/>
          <a:p>
            <a:pPr algn="l"/>
            <a:r>
              <a:rPr sz="1100" b="1" i="0">
                <a:solidFill>
                  <a:srgbClr val="202124"/>
                </a:solidFill>
                <a:latin typeface="Arial"/>
              </a:rPr>
              <a:t>Demo Video Link (3 Minutes)</a:t>
            </a:r>
          </a:p>
        </p:txBody>
      </p:sp>
      <p:sp>
        <p:nvSpPr>
          <p:cNvPr id="169" name="TextBox 168"/>
          <p:cNvSpPr txBox="1"/>
          <p:nvPr/>
        </p:nvSpPr>
        <p:spPr>
          <a:xfrm>
            <a:off x="1234440" y="2852928"/>
            <a:ext cx="7223760" cy="274320"/>
          </a:xfrm>
          <a:prstGeom prst="rect">
            <a:avLst/>
          </a:prstGeom>
          <a:noFill/>
        </p:spPr>
        <p:txBody>
          <a:bodyPr wrap="square" lIns="0" rIns="0" tIns="0" bIns="0" anchor="t"/>
          <a:lstStyle/>
          <a:p>
            <a:pPr algn="l"/>
            <a:r>
              <a:rPr sz="1200" b="0" i="0">
                <a:solidFill>
                  <a:srgbClr val="1A73E8"/>
                </a:solidFill>
                <a:latin typeface="Arial"/>
              </a:rPr>
              <a:t> </a:t>
            </a:r>
          </a:p>
        </p:txBody>
      </p:sp>
      <p:sp>
        <p:nvSpPr>
          <p:cNvPr id="170" name="Rounded Rectangle 169"/>
          <p:cNvSpPr/>
          <p:nvPr/>
        </p:nvSpPr>
        <p:spPr>
          <a:xfrm>
            <a:off x="365760" y="3474720"/>
            <a:ext cx="8412480" cy="868680"/>
          </a:xfrm>
          <a:prstGeom prst="roundRect">
            <a:avLst>
              <a:gd name="adj" fmla="val 10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Oval 170"/>
          <p:cNvSpPr/>
          <p:nvPr/>
        </p:nvSpPr>
        <p:spPr>
          <a:xfrm>
            <a:off x="548640" y="3657600"/>
            <a:ext cx="502920" cy="5029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2" name="Picture 171" descr="MdOpenInNew.png"/>
          <p:cNvPicPr>
            <a:picLocks noChangeAspect="1"/>
          </p:cNvPicPr>
          <p:nvPr/>
        </p:nvPicPr>
        <p:blipFill>
          <a:blip r:embed="rId7"/>
          <a:stretch>
            <a:fillRect/>
          </a:stretch>
        </p:blipFill>
        <p:spPr>
          <a:xfrm>
            <a:off x="659282" y="3768242"/>
            <a:ext cx="281635" cy="281635"/>
          </a:xfrm>
          <a:prstGeom prst="rect">
            <a:avLst/>
          </a:prstGeom>
        </p:spPr>
      </p:pic>
      <p:sp>
        <p:nvSpPr>
          <p:cNvPr id="173" name="TextBox 172"/>
          <p:cNvSpPr txBox="1"/>
          <p:nvPr/>
        </p:nvSpPr>
        <p:spPr>
          <a:xfrm>
            <a:off x="1234440" y="3630168"/>
            <a:ext cx="7223760" cy="228600"/>
          </a:xfrm>
          <a:prstGeom prst="rect">
            <a:avLst/>
          </a:prstGeom>
          <a:noFill/>
        </p:spPr>
        <p:txBody>
          <a:bodyPr wrap="square" lIns="0" rIns="0" tIns="0" bIns="0" anchor="t"/>
          <a:lstStyle/>
          <a:p>
            <a:pPr algn="l"/>
            <a:r>
              <a:rPr sz="1100" b="1" i="0">
                <a:solidFill>
                  <a:srgbClr val="202124"/>
                </a:solidFill>
                <a:latin typeface="Arial"/>
              </a:rPr>
              <a:t>Final Product Link</a:t>
            </a:r>
          </a:p>
        </p:txBody>
      </p:sp>
      <p:sp>
        <p:nvSpPr>
          <p:cNvPr id="174" name="TextBox 173"/>
          <p:cNvSpPr txBox="1"/>
          <p:nvPr/>
        </p:nvSpPr>
        <p:spPr>
          <a:xfrm>
            <a:off x="1234440" y="3904487"/>
            <a:ext cx="7223760" cy="274320"/>
          </a:xfrm>
          <a:prstGeom prst="rect">
            <a:avLst/>
          </a:prstGeom>
          <a:noFill/>
        </p:spPr>
        <p:txBody>
          <a:bodyPr wrap="square" lIns="0" rIns="0" tIns="0" bIns="0" anchor="t"/>
          <a:lstStyle/>
          <a:p>
            <a:pPr algn="l"/>
            <a:r>
              <a:rPr sz="1200" b="0" i="0">
                <a:solidFill>
                  <a:srgbClr val="1A73E8"/>
                </a:solidFill>
                <a:latin typeface="Arial"/>
                <a:hlinkClick r:id="rId8"/>
              </a:rPr>
              <a:t>https://greenroute-ai-511911.web.app</a:t>
            </a:r>
          </a:p>
        </p:txBody>
      </p:sp>
      <p:sp>
        <p:nvSpPr>
          <p:cNvPr id="175" name="TextBox 174"/>
          <p:cNvSpPr txBox="1"/>
          <p:nvPr/>
        </p:nvSpPr>
        <p:spPr>
          <a:xfrm>
            <a:off x="365760" y="4553712"/>
            <a:ext cx="8412480" cy="320040"/>
          </a:xfrm>
          <a:prstGeom prst="rect">
            <a:avLst/>
          </a:prstGeom>
          <a:noFill/>
        </p:spPr>
        <p:txBody>
          <a:bodyPr wrap="square" lIns="0" rIns="0" tIns="0" bIns="0" anchor="t"/>
          <a:lstStyle/>
          <a:p>
            <a:pPr algn="l"/>
            <a:r>
              <a:rPr sz="900" b="0" i="0">
                <a:solidFill>
                  <a:srgbClr val="5F6368"/>
                </a:solidFill>
                <a:latin typeface="Arial"/>
              </a:rPr>
              <a:t>Built by Team AI Alchemists · Track: Sustainability &amp; Social Impact</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265176" y="713232"/>
            <a:ext cx="8942832" cy="557784"/>
          </a:xfrm>
          <a:prstGeom prst="rect">
            <a:avLst/>
          </a:prstGeom>
          <a:noFill/>
        </p:spPr>
        <p:txBody>
          <a:bodyPr wrap="square">
            <a:spAutoFit/>
          </a:bodyPr>
          <a:lstStyle/>
          <a:p>
            <a:r>
              <a:rPr sz="1600">
                <a:solidFill>
                  <a:srgbClr val="000000"/>
                </a:solidFill>
                <a:latin typeface="Google Sans Flex Medium"/>
              </a:rPr>
              <a:t>Assumptions and limitations</a:t>
            </a:r>
          </a:p>
        </p:txBody>
      </p:sp>
      <p:sp>
        <p:nvSpPr>
          <p:cNvPr id="168" name="Rounded Rectangle 167"/>
          <p:cNvSpPr/>
          <p:nvPr/>
        </p:nvSpPr>
        <p:spPr>
          <a:xfrm>
            <a:off x="365760" y="1261872"/>
            <a:ext cx="4114800" cy="3017520"/>
          </a:xfrm>
          <a:prstGeom prst="roundRect">
            <a:avLst>
              <a:gd name="adj" fmla="val 4000"/>
            </a:avLst>
          </a:prstGeom>
          <a:solidFill>
            <a:srgbClr val="F8F9F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Oval 168"/>
          <p:cNvSpPr/>
          <p:nvPr/>
        </p:nvSpPr>
        <p:spPr>
          <a:xfrm>
            <a:off x="530352" y="1399032"/>
            <a:ext cx="384048" cy="38404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0" name="Picture 169" descr="MdCalculate.png"/>
          <p:cNvPicPr>
            <a:picLocks noChangeAspect="1"/>
          </p:cNvPicPr>
          <p:nvPr/>
        </p:nvPicPr>
        <p:blipFill>
          <a:blip r:embed="rId5"/>
          <a:stretch>
            <a:fillRect/>
          </a:stretch>
        </p:blipFill>
        <p:spPr>
          <a:xfrm>
            <a:off x="614842" y="1483522"/>
            <a:ext cx="215066" cy="215066"/>
          </a:xfrm>
          <a:prstGeom prst="rect">
            <a:avLst/>
          </a:prstGeom>
        </p:spPr>
      </p:pic>
      <p:sp>
        <p:nvSpPr>
          <p:cNvPr id="171" name="TextBox 170"/>
          <p:cNvSpPr txBox="1"/>
          <p:nvPr/>
        </p:nvSpPr>
        <p:spPr>
          <a:xfrm>
            <a:off x="1024128" y="1399032"/>
            <a:ext cx="3291840" cy="384048"/>
          </a:xfrm>
          <a:prstGeom prst="rect">
            <a:avLst/>
          </a:prstGeom>
          <a:noFill/>
        </p:spPr>
        <p:txBody>
          <a:bodyPr wrap="square" lIns="0" rIns="0" tIns="0" bIns="0" anchor="ctr"/>
          <a:lstStyle/>
          <a:p>
            <a:pPr algn="l"/>
            <a:r>
              <a:rPr sz="1150" b="1" i="0">
                <a:solidFill>
                  <a:srgbClr val="202124"/>
                </a:solidFill>
                <a:latin typeface="Arial"/>
              </a:rPr>
              <a:t>Assumptions (stated honestly)</a:t>
            </a:r>
          </a:p>
        </p:txBody>
      </p:sp>
      <p:sp>
        <p:nvSpPr>
          <p:cNvPr id="172" name="TextBox 171"/>
          <p:cNvSpPr txBox="1"/>
          <p:nvPr/>
        </p:nvSpPr>
        <p:spPr>
          <a:xfrm>
            <a:off x="548640" y="1938528"/>
            <a:ext cx="3794760" cy="2926080"/>
          </a:xfrm>
          <a:prstGeom prst="rect">
            <a:avLst/>
          </a:prstGeom>
          <a:noFill/>
        </p:spPr>
        <p:txBody>
          <a:bodyPr wrap="square" lIns="0" rIns="0" tIns="0" bIns="0" anchor="t"/>
          <a:lstStyle/>
          <a:p>
            <a:pPr algn="l" marL="146304" indent="-146304">
              <a:spcAft>
                <a:spcPts val="600"/>
              </a:spcAft>
              <a:buFont typeface="Arial"/>
              <a:buChar char="•"/>
            </a:pPr>
            <a:r>
              <a:rPr sz="950" b="0" i="0">
                <a:solidFill>
                  <a:srgbClr val="202124"/>
                </a:solidFill>
                <a:latin typeface="Arial"/>
              </a:rPr>
              <a:t>Energy per 1k output tokens: Flash-Lite 0.25, Flash 0.6, Pro 2.5 Wh; input costs 1/10; PUE 1.09. Calibrated to Google’s published median of 0.24 Wh per Gemini text prompt.</a:t>
            </a:r>
          </a:p>
          <a:p>
            <a:pPr algn="l" marL="146304" indent="-146304">
              <a:spcAft>
                <a:spcPts val="600"/>
              </a:spcAft>
              <a:buFont typeface="Arial"/>
              <a:buChar char="•"/>
            </a:pPr>
            <a:r>
              <a:rPr sz="950" b="0" i="0">
                <a:solidFill>
                  <a:srgbClr val="202124"/>
                </a:solidFill>
                <a:latin typeface="Arial"/>
              </a:rPr>
              <a:t>Hourly grid intensity is modelled from Google’s 2023 annual averages with a daily solar-dip curve.</a:t>
            </a:r>
          </a:p>
          <a:p>
            <a:pPr algn="l" marL="146304" indent="-146304">
              <a:spcAft>
                <a:spcPts val="600"/>
              </a:spcAft>
              <a:buFont typeface="Arial"/>
              <a:buChar char="•"/>
            </a:pPr>
            <a:r>
              <a:rPr sz="950" b="0" i="0">
                <a:solidFill>
                  <a:srgbClr val="202124"/>
                </a:solidFill>
                <a:latin typeface="Arial"/>
              </a:rPr>
              <a:t>Baseline for every request: Pro model on the Mumbai grid (648 gCO₂/kWh), run immediately.</a:t>
            </a:r>
          </a:p>
          <a:p>
            <a:pPr algn="l" marL="146304" indent="-146304">
              <a:buFont typeface="Arial"/>
              <a:buChar char="•"/>
            </a:pPr>
            <a:r>
              <a:rPr sz="950" b="0" i="0">
                <a:solidFill>
                  <a:srgbClr val="202124"/>
                </a:solidFill>
                <a:latin typeface="Arial"/>
              </a:rPr>
              <a:t>The receipt uses Gemini’s real token counts; only the pre-run estimate is predicted.</a:t>
            </a:r>
          </a:p>
        </p:txBody>
      </p:sp>
      <p:sp>
        <p:nvSpPr>
          <p:cNvPr id="173" name="Rounded Rectangle 172"/>
          <p:cNvSpPr/>
          <p:nvPr/>
        </p:nvSpPr>
        <p:spPr>
          <a:xfrm>
            <a:off x="4663440" y="1261872"/>
            <a:ext cx="4114800" cy="3017520"/>
          </a:xfrm>
          <a:prstGeom prst="roundRect">
            <a:avLst>
              <a:gd name="adj" fmla="val 4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Oval 173"/>
          <p:cNvSpPr/>
          <p:nvPr/>
        </p:nvSpPr>
        <p:spPr>
          <a:xfrm>
            <a:off x="4828032" y="1399032"/>
            <a:ext cx="384048" cy="38404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 name="Picture 174" descr="MdEditNote.png"/>
          <p:cNvPicPr>
            <a:picLocks noChangeAspect="1"/>
          </p:cNvPicPr>
          <p:nvPr/>
        </p:nvPicPr>
        <p:blipFill>
          <a:blip r:embed="rId6"/>
          <a:stretch>
            <a:fillRect/>
          </a:stretch>
        </p:blipFill>
        <p:spPr>
          <a:xfrm>
            <a:off x="4912522" y="1483522"/>
            <a:ext cx="215066" cy="215066"/>
          </a:xfrm>
          <a:prstGeom prst="rect">
            <a:avLst/>
          </a:prstGeom>
        </p:spPr>
      </p:pic>
      <p:sp>
        <p:nvSpPr>
          <p:cNvPr id="176" name="TextBox 175"/>
          <p:cNvSpPr txBox="1"/>
          <p:nvPr/>
        </p:nvSpPr>
        <p:spPr>
          <a:xfrm>
            <a:off x="5321808" y="1399032"/>
            <a:ext cx="3291840" cy="384048"/>
          </a:xfrm>
          <a:prstGeom prst="rect">
            <a:avLst/>
          </a:prstGeom>
          <a:noFill/>
        </p:spPr>
        <p:txBody>
          <a:bodyPr wrap="square" lIns="0" rIns="0" tIns="0" bIns="0" anchor="ctr"/>
          <a:lstStyle/>
          <a:p>
            <a:pPr algn="l"/>
            <a:r>
              <a:rPr sz="1150" b="1" i="0">
                <a:solidFill>
                  <a:srgbClr val="202124"/>
                </a:solidFill>
                <a:latin typeface="Arial"/>
              </a:rPr>
              <a:t>Known limitations and fixes</a:t>
            </a:r>
          </a:p>
        </p:txBody>
      </p:sp>
      <p:sp>
        <p:nvSpPr>
          <p:cNvPr id="177" name="TextBox 176"/>
          <p:cNvSpPr txBox="1"/>
          <p:nvPr/>
        </p:nvSpPr>
        <p:spPr>
          <a:xfrm>
            <a:off x="4846320" y="1938528"/>
            <a:ext cx="3794760" cy="2926080"/>
          </a:xfrm>
          <a:prstGeom prst="rect">
            <a:avLst/>
          </a:prstGeom>
          <a:noFill/>
        </p:spPr>
        <p:txBody>
          <a:bodyPr wrap="square" lIns="0" rIns="0" tIns="0" bIns="0" anchor="t"/>
          <a:lstStyle/>
          <a:p>
            <a:pPr algn="l" marL="146304" indent="-146304">
              <a:spcAft>
                <a:spcPts val="500"/>
              </a:spcAft>
              <a:buFont typeface="Arial"/>
              <a:buChar char="•"/>
            </a:pPr>
            <a:r>
              <a:rPr sz="950" b="1" i="0">
                <a:solidFill>
                  <a:srgbClr val="202124"/>
                </a:solidFill>
                <a:latin typeface="Arial"/>
              </a:rPr>
              <a:t>Deferred jobs run on arrival: </a:t>
            </a:r>
            <a:r>
              <a:rPr sz="950" b="0" i="0">
                <a:solidFill>
                  <a:srgbClr val="202124"/>
                </a:solidFill>
                <a:latin typeface="Arial"/>
              </a:rPr>
              <a:t>carbon is counted at the green slot. Fix: Cloud Tasks with a schedule time.</a:t>
            </a:r>
          </a:p>
          <a:p>
            <a:pPr algn="l" marL="146304" indent="-146304">
              <a:spcAft>
                <a:spcPts val="500"/>
              </a:spcAft>
              <a:buFont typeface="Arial"/>
              <a:buChar char="•"/>
            </a:pPr>
            <a:r>
              <a:rPr sz="950" b="1" i="0">
                <a:solidFill>
                  <a:srgbClr val="202124"/>
                </a:solidFill>
                <a:latin typeface="Arial"/>
              </a:rPr>
              <a:t>Global fallback: </a:t>
            </a:r>
            <a:r>
              <a:rPr sz="950" b="0" i="0">
                <a:solidFill>
                  <a:srgbClr val="202124"/>
                </a:solidFill>
                <a:latin typeface="Arial"/>
              </a:rPr>
              <a:t>if no allowed region serves the tier, the call goes to the global endpoint. Fix: strict residency.</a:t>
            </a:r>
          </a:p>
          <a:p>
            <a:pPr algn="l" marL="146304" indent="-146304">
              <a:spcAft>
                <a:spcPts val="500"/>
              </a:spcAft>
              <a:buFont typeface="Arial"/>
              <a:buChar char="•"/>
            </a:pPr>
            <a:r>
              <a:rPr sz="950" b="1" i="0">
                <a:solidFill>
                  <a:srgbClr val="202124"/>
                </a:solidFill>
                <a:latin typeface="Arial"/>
              </a:rPr>
              <a:t>Output-length model is rough: </a:t>
            </a:r>
            <a:r>
              <a:rPr sz="950" b="0" i="0">
                <a:solidFill>
                  <a:srgbClr val="202124"/>
                </a:solidFill>
                <a:latin typeface="Arial"/>
              </a:rPr>
              <a:t>it predicts 11–17 tokens where answers ran 8–2,044. Fix: richer features.</a:t>
            </a:r>
          </a:p>
          <a:p>
            <a:pPr algn="l" marL="146304" indent="-146304">
              <a:spcAft>
                <a:spcPts val="500"/>
              </a:spcAft>
              <a:buFont typeface="Arial"/>
              <a:buChar char="•"/>
            </a:pPr>
            <a:r>
              <a:rPr sz="950" b="1" i="0">
                <a:solidFill>
                  <a:srgbClr val="202124"/>
                </a:solidFill>
                <a:latin typeface="Arial"/>
              </a:rPr>
              <a:t>Fleet replay is a best case: </a:t>
            </a:r>
            <a:r>
              <a:rPr sz="950" b="0" i="0">
                <a:solidFill>
                  <a:srgbClr val="202124"/>
                </a:solidFill>
                <a:latin typeface="Arial"/>
              </a:rPr>
              <a:t>tiers come from actual sizes and all traffic goes to the cleanest grid.</a:t>
            </a:r>
          </a:p>
          <a:p>
            <a:pPr algn="l" marL="146304" indent="-146304">
              <a:spcAft>
                <a:spcPts val="500"/>
              </a:spcAft>
              <a:buFont typeface="Arial"/>
              <a:buChar char="•"/>
            </a:pPr>
            <a:r>
              <a:rPr sz="950" b="1" i="0">
                <a:solidFill>
                  <a:srgbClr val="202124"/>
                </a:solidFill>
                <a:latin typeface="Arial"/>
              </a:rPr>
              <a:t>Open API: </a:t>
            </a:r>
            <a:r>
              <a:rPr sz="950" b="0" i="0">
                <a:solidFill>
                  <a:srgbClr val="202124"/>
                </a:solidFill>
                <a:latin typeface="Arial"/>
              </a:rPr>
              <a:t>no auth or rate limit in the prototype. Fix: API keys and quotas.</a:t>
            </a:r>
          </a:p>
        </p:txBody>
      </p:sp>
      <p:sp>
        <p:nvSpPr>
          <p:cNvPr id="178" name="Rounded Rectangle 177"/>
          <p:cNvSpPr/>
          <p:nvPr/>
        </p:nvSpPr>
        <p:spPr>
          <a:xfrm>
            <a:off x="365760" y="4407408"/>
            <a:ext cx="8412480" cy="493776"/>
          </a:xfrm>
          <a:prstGeom prst="roundRect">
            <a:avLst>
              <a:gd name="adj" fmla="val 15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TextBox 178"/>
          <p:cNvSpPr txBox="1"/>
          <p:nvPr/>
        </p:nvSpPr>
        <p:spPr>
          <a:xfrm>
            <a:off x="548640" y="4407408"/>
            <a:ext cx="8046720" cy="493776"/>
          </a:xfrm>
          <a:prstGeom prst="rect">
            <a:avLst/>
          </a:prstGeom>
          <a:noFill/>
        </p:spPr>
        <p:txBody>
          <a:bodyPr wrap="square" lIns="0" rIns="0" tIns="0" bIns="0" anchor="ctr"/>
          <a:lstStyle/>
          <a:p>
            <a:pPr algn="l"/>
            <a:r>
              <a:rPr sz="850" b="1" i="0">
                <a:solidFill>
                  <a:srgbClr val="188038"/>
                </a:solidFill>
                <a:latin typeface="Arial"/>
              </a:rPr>
              <a:t>Data sources  </a:t>
            </a:r>
            <a:r>
              <a:rPr sz="850" b="0" i="0">
                <a:solidFill>
                  <a:srgbClr val="202124"/>
                </a:solidFill>
                <a:latin typeface="Arial"/>
              </a:rPr>
              <a:t>Google Cloud region carbon data (2023) · Azure LLM Inference Trace 2024 (DynamoLLM, HPCA 2025, CC-BY) · Google’s published Gemini per-prompt energy methodology (2025)</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